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67" r:id="rId4"/>
    <p:sldId id="268" r:id="rId5"/>
    <p:sldId id="269" r:id="rId6"/>
    <p:sldId id="271" r:id="rId7"/>
    <p:sldId id="258" r:id="rId8"/>
    <p:sldId id="259" r:id="rId9"/>
    <p:sldId id="272" r:id="rId10"/>
    <p:sldId id="273" r:id="rId11"/>
    <p:sldId id="261" r:id="rId12"/>
    <p:sldId id="276" r:id="rId13"/>
    <p:sldId id="275" r:id="rId14"/>
    <p:sldId id="277" r:id="rId15"/>
    <p:sldId id="274" r:id="rId16"/>
    <p:sldId id="278" r:id="rId17"/>
    <p:sldId id="262" r:id="rId18"/>
  </p:sldIdLst>
  <p:sldSz cx="9144000" cy="5143500" type="screen16x9"/>
  <p:notesSz cx="6858000" cy="9144000"/>
  <p:embeddedFontLst>
    <p:embeddedFont>
      <p:font typeface="Montserrat" panose="020B0604020202020204" charset="0"/>
      <p:regular r:id="rId20"/>
      <p:bold r:id="rId21"/>
      <p:italic r:id="rId22"/>
      <p:boldItalic r:id="rId23"/>
    </p:embeddedFont>
    <p:embeddedFont>
      <p:font typeface="Arial Unicode MS" panose="020B0604020202020204" pitchFamily="34" charset="-128"/>
      <p:regular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077">
          <p15:clr>
            <a:srgbClr val="A4A3A4"/>
          </p15:clr>
        </p15:guide>
        <p15:guide id="2" pos="2721">
          <p15:clr>
            <a:srgbClr val="A4A3A4"/>
          </p15:clr>
        </p15:guide>
        <p15:guide id="3" pos="2438">
          <p15:clr>
            <a:srgbClr val="9AA0A6"/>
          </p15:clr>
        </p15:guide>
        <p15:guide id="4" pos="416">
          <p15:clr>
            <a:srgbClr val="9AA0A6"/>
          </p15:clr>
        </p15:guide>
        <p15:guide id="5" pos="1191">
          <p15:clr>
            <a:srgbClr val="9AA0A6"/>
          </p15:clr>
        </p15:guide>
        <p15:guide id="6" pos="638">
          <p15:clr>
            <a:srgbClr val="9AA0A6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5" roundtripDataSignature="AMtx7miohyEog1akfKJRRdWquyApPmpAp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2" d="100"/>
          <a:sy n="112" d="100"/>
        </p:scale>
        <p:origin x="571" y="86"/>
      </p:cViewPr>
      <p:guideLst>
        <p:guide orient="horz" pos="1077"/>
        <p:guide pos="2721"/>
        <p:guide pos="2438"/>
        <p:guide pos="416"/>
        <p:guide pos="1191"/>
        <p:guide pos="63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customschemas.google.com/relationships/presentationmetadata" Target="meta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20204231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" name="Google Shape;5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725285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" name="Google Shape;6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840609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" name="Google Shape;6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056426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" name="Google Shape;6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319510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" name="Google Shape;6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0455472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" name="Google Shape;6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9042206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" name="Google Shape;69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3186172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7" name="Google Shape;77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5024676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7" name="Google Shape;77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9321250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7" name="Google Shape;77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0683233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13f9e8f156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3" name="Google Shape;93;g13f9e8f156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6218535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13f9e8f156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3" name="Google Shape;93;g13f9e8f156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8895163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13f9e8f156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3" name="Google Shape;93;g13f9e8f156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0931392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13f9e8f156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3" name="Google Shape;93;g13f9e8f156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3902510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13f9e8f156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3" name="Google Shape;93;g13f9e8f156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0042935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13f9e8f156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3" name="Google Shape;93;g13f9e8f156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8934312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13f9e8f1567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1" name="Google Shape;101;g13f9e8f1567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878085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0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10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6" name="Google Shape;16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2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9" name="Google Shape;1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13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5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15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6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7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17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17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17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8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9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9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"/>
          <p:cNvSpPr txBox="1"/>
          <p:nvPr/>
        </p:nvSpPr>
        <p:spPr>
          <a:xfrm>
            <a:off x="632415" y="1851250"/>
            <a:ext cx="7983300" cy="89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 fontScale="47500" lnSpcReduction="20000"/>
          </a:bodyPr>
          <a:lstStyle/>
          <a:p>
            <a:pPr algn="ctr"/>
            <a:r>
              <a:rPr lang="fr-FR" sz="5400" b="1" dirty="0" err="1">
                <a:solidFill>
                  <a:schemeClr val="bg1"/>
                </a:solidFill>
              </a:rPr>
              <a:t>Bottleneck</a:t>
            </a:r>
            <a:r>
              <a:rPr lang="fr-FR" sz="5400" b="1" dirty="0">
                <a:solidFill>
                  <a:schemeClr val="bg1"/>
                </a:solidFill>
              </a:rPr>
              <a:t> </a:t>
            </a:r>
            <a:r>
              <a:rPr lang="" sz="5400" b="1" dirty="0" smtClean="0">
                <a:solidFill>
                  <a:schemeClr val="bg1"/>
                </a:solidFill>
              </a:rPr>
              <a:t>- </a:t>
            </a:r>
            <a:r>
              <a:rPr lang="en-US" sz="5400" b="1" dirty="0" smtClean="0">
                <a:solidFill>
                  <a:schemeClr val="bg1"/>
                </a:solidFill>
              </a:rPr>
              <a:t>o</a:t>
            </a:r>
            <a:r>
              <a:rPr lang="fr-FR" sz="5400" b="1" dirty="0" err="1" smtClean="0">
                <a:solidFill>
                  <a:schemeClr val="bg1"/>
                </a:solidFill>
              </a:rPr>
              <a:t>ptimisation</a:t>
            </a:r>
            <a:r>
              <a:rPr lang="fr-FR" sz="5400" b="1" dirty="0" smtClean="0">
                <a:solidFill>
                  <a:schemeClr val="bg1"/>
                </a:solidFill>
              </a:rPr>
              <a:t> la gestion des données d'une boutique avec Python</a:t>
            </a:r>
            <a:endParaRPr lang="fr-FR" sz="5400" b="1" dirty="0">
              <a:solidFill>
                <a:schemeClr val="bg1"/>
              </a:solidFill>
            </a:endParaRPr>
          </a:p>
        </p:txBody>
      </p:sp>
      <p:sp>
        <p:nvSpPr>
          <p:cNvPr id="56" name="Google Shape;56;p1"/>
          <p:cNvSpPr txBox="1"/>
          <p:nvPr/>
        </p:nvSpPr>
        <p:spPr>
          <a:xfrm>
            <a:off x="4968964" y="3582148"/>
            <a:ext cx="3807680" cy="534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fr" sz="2800" b="0" i="0" u="none" strike="noStrike" cap="none" dirty="0" smtClean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Tina SEMASHKO</a:t>
            </a:r>
            <a:endParaRPr sz="2800" b="0" i="0" u="none" strike="noStrike" cap="none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7" name="Google Shape;57;p1"/>
          <p:cNvSpPr txBox="1"/>
          <p:nvPr/>
        </p:nvSpPr>
        <p:spPr>
          <a:xfrm>
            <a:off x="4968964" y="3975103"/>
            <a:ext cx="3807680" cy="534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en-US" sz="1600" b="0" i="0" u="none" strike="noStrike" cap="none" dirty="0" smtClean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</a:t>
            </a:r>
            <a:r>
              <a:rPr lang="fr" sz="1600" b="0" i="0" u="none" strike="noStrike" cap="none" dirty="0" smtClean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ours Développeur IA</a:t>
            </a:r>
            <a:endParaRPr sz="1600" b="0" i="0" u="none" strike="noStrike" cap="none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8" name="Google Shape;58;p1"/>
          <p:cNvSpPr txBox="1"/>
          <p:nvPr/>
        </p:nvSpPr>
        <p:spPr>
          <a:xfrm>
            <a:off x="4968964" y="4368058"/>
            <a:ext cx="3807680" cy="534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" sz="2800" b="0" i="0" u="none" strike="noStrike" cap="none" dirty="0" smtClean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18/07/2026</a:t>
            </a:r>
            <a:endParaRPr sz="2800" b="0" i="0" u="none" strike="noStrike" cap="none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4"/>
          <p:cNvSpPr txBox="1">
            <a:spLocks noGrp="1"/>
          </p:cNvSpPr>
          <p:nvPr>
            <p:ph type="body" idx="1"/>
          </p:nvPr>
        </p:nvSpPr>
        <p:spPr>
          <a:xfrm>
            <a:off x="1" y="1473600"/>
            <a:ext cx="9051902" cy="361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>
              <a:buClr>
                <a:srgbClr val="999999"/>
              </a:buClr>
              <a:buFont typeface="Montserrat"/>
              <a:buChar char="●"/>
            </a:pPr>
            <a:r>
              <a:rPr lang="fr-FR" sz="1200" b="1" i="1" dirty="0" err="1" smtClean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Datasets</a:t>
            </a:r>
            <a:r>
              <a:rPr lang="en-US" sz="1200" i="1" dirty="0" smtClean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: </a:t>
            </a:r>
            <a:r>
              <a:rPr lang="fr-FR" sz="1200" i="1" dirty="0" smtClean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3 </a:t>
            </a:r>
            <a:r>
              <a:rPr lang="fr-FR" sz="1200" i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fichiers sources : erp.xlsx (825 lignes, 6 colonnes), web.xlsx (1513 lignes, 29 colonnes), liaison.xlsx (825 lignes, 2 </a:t>
            </a:r>
            <a:r>
              <a:rPr lang="fr-FR" sz="1200" i="1" dirty="0" smtClean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colonnes). Table </a:t>
            </a:r>
            <a:r>
              <a:rPr lang="fr-FR" sz="1200" i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de liaison permettant de relier les références ERP aux SKU du site </a:t>
            </a:r>
            <a:r>
              <a:rPr lang="fr-FR" sz="1200" i="1" dirty="0" smtClean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WordPress</a:t>
            </a:r>
            <a:endParaRPr sz="1200" i="1" dirty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lvl="0">
              <a:buClr>
                <a:srgbClr val="999999"/>
              </a:buClr>
              <a:buFont typeface="Montserrat"/>
              <a:buChar char="●"/>
            </a:pPr>
            <a:r>
              <a:rPr lang="fr-FR" sz="1200" b="1" i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Traitements </a:t>
            </a:r>
            <a:r>
              <a:rPr lang="fr-FR" sz="1200" b="1" i="1" dirty="0" smtClean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réalisés</a:t>
            </a:r>
            <a:r>
              <a:rPr lang="fr-FR" sz="1200" i="1" dirty="0" smtClean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: Détection </a:t>
            </a:r>
            <a:r>
              <a:rPr lang="fr-FR" sz="1200" i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des valeurs manquantes, doublons et incohérences dans chaque </a:t>
            </a:r>
            <a:r>
              <a:rPr lang="fr-FR" sz="1200" i="1" dirty="0" smtClean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fichier Identification </a:t>
            </a:r>
            <a:r>
              <a:rPr lang="fr-FR" sz="1200" i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de 8 erreurs de données </a:t>
            </a:r>
            <a:r>
              <a:rPr lang="fr-FR" sz="1200" i="1" dirty="0" smtClean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documentées</a:t>
            </a:r>
            <a:endParaRPr sz="1200" i="1" dirty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lvl="1">
              <a:buClr>
                <a:srgbClr val="999999"/>
              </a:buClr>
              <a:buFont typeface="Montserrat"/>
              <a:buChar char="○"/>
            </a:pPr>
            <a:r>
              <a:rPr lang="fr-FR" sz="1100" i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Nettoyages </a:t>
            </a:r>
            <a:r>
              <a:rPr lang="fr-FR" sz="1100" i="1" dirty="0" smtClean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effectués:</a:t>
            </a:r>
          </a:p>
          <a:p>
            <a:pPr marL="596900" lvl="1" indent="0">
              <a:buClr>
                <a:srgbClr val="999999"/>
              </a:buClr>
              <a:buNone/>
            </a:pPr>
            <a:r>
              <a:rPr lang="fr-FR" sz="1100" i="1" dirty="0" smtClean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- 	ERP </a:t>
            </a:r>
            <a:r>
              <a:rPr lang="fr-FR" sz="1100" i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: suppression des prix négatifs, stocks négatifs, ventes à </a:t>
            </a:r>
            <a:r>
              <a:rPr lang="fr-FR" sz="1100" i="1" dirty="0" smtClean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perte;</a:t>
            </a:r>
          </a:p>
          <a:p>
            <a:pPr lvl="1">
              <a:buClr>
                <a:srgbClr val="999999"/>
              </a:buClr>
              <a:buFontTx/>
              <a:buChar char="-"/>
            </a:pPr>
            <a:r>
              <a:rPr lang="fr-FR" sz="1100" i="1" dirty="0" smtClean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Web </a:t>
            </a:r>
            <a:r>
              <a:rPr lang="fr-FR" sz="1100" i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: suppression des lignes sans SKU, des lignes de type </a:t>
            </a:r>
            <a:r>
              <a:rPr lang="fr-FR" sz="1100" i="1" dirty="0" err="1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attachment</a:t>
            </a:r>
            <a:r>
              <a:rPr lang="fr-FR" sz="1100" i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 (images WordPress), des valeurs négatives dans </a:t>
            </a:r>
            <a:r>
              <a:rPr lang="fr-FR" sz="1100" i="1" dirty="0" err="1" smtClean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total</a:t>
            </a:r>
            <a:r>
              <a:rPr lang="fr-FR" sz="1100" i="1" dirty="0" err="1" smtClean="0">
                <a:solidFill>
                  <a:schemeClr val="tx1"/>
                </a:solidFill>
                <a:latin typeface="+mj-lt"/>
                <a:ea typeface="Montserrat"/>
                <a:cs typeface="Montserrat"/>
                <a:sym typeface="Montserrat"/>
              </a:rPr>
              <a:t>_</a:t>
            </a:r>
            <a:r>
              <a:rPr lang="fr-FR" sz="1100" i="1" dirty="0" err="1" smtClean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sales</a:t>
            </a:r>
            <a:r>
              <a:rPr lang="fr-FR" sz="1100" i="1" dirty="0" smtClean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;</a:t>
            </a:r>
          </a:p>
          <a:p>
            <a:pPr lvl="1">
              <a:buClr>
                <a:srgbClr val="999999"/>
              </a:buClr>
              <a:buFontTx/>
              <a:buChar char="-"/>
            </a:pPr>
            <a:r>
              <a:rPr lang="fr-FR" sz="1100" i="1" dirty="0" smtClean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Liaison </a:t>
            </a:r>
            <a:r>
              <a:rPr lang="fr-FR" sz="1100" i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: suppression des lignes sans </a:t>
            </a:r>
            <a:r>
              <a:rPr lang="fr-FR" sz="1100" i="1" dirty="0" err="1" smtClean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id</a:t>
            </a:r>
            <a:r>
              <a:rPr lang="fr-FR" sz="1100" i="1" dirty="0" err="1" smtClean="0">
                <a:solidFill>
                  <a:schemeClr val="tx1"/>
                </a:solidFill>
                <a:latin typeface="+mj-lt"/>
                <a:ea typeface="Montserrat"/>
                <a:cs typeface="Montserrat"/>
                <a:sym typeface="Montserrat"/>
              </a:rPr>
              <a:t>_</a:t>
            </a:r>
            <a:r>
              <a:rPr lang="fr-FR" sz="1100" i="1" dirty="0" err="1" smtClean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web</a:t>
            </a:r>
            <a:r>
              <a:rPr lang="fr-FR" sz="1100" i="1" dirty="0" smtClean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;</a:t>
            </a:r>
            <a:endParaRPr lang="" sz="1100" i="1" dirty="0" smtClean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lvl="1">
              <a:buClr>
                <a:srgbClr val="999999"/>
              </a:buClr>
              <a:buFontTx/>
              <a:buChar char="-"/>
            </a:pPr>
            <a:r>
              <a:rPr lang="fr-FR" sz="1100" i="1" dirty="0" smtClean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Correction </a:t>
            </a:r>
            <a:r>
              <a:rPr lang="fr-FR" sz="1100" i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logique de </a:t>
            </a:r>
            <a:r>
              <a:rPr lang="fr-FR" sz="1100" i="1" dirty="0" err="1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stock</a:t>
            </a:r>
            <a:r>
              <a:rPr lang="fr-FR" sz="1100" i="1" dirty="0" err="1">
                <a:solidFill>
                  <a:schemeClr val="tx1"/>
                </a:solidFill>
                <a:latin typeface="+mj-lt"/>
                <a:ea typeface="Montserrat"/>
                <a:cs typeface="Montserrat"/>
                <a:sym typeface="Montserrat"/>
              </a:rPr>
              <a:t>_</a:t>
            </a:r>
            <a:r>
              <a:rPr lang="fr-FR" sz="1100" i="1" dirty="0" err="1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status</a:t>
            </a:r>
            <a:r>
              <a:rPr lang="fr-FR" sz="1100" i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 sur la base de </a:t>
            </a:r>
            <a:r>
              <a:rPr lang="fr-FR" sz="1100" i="1" dirty="0" err="1" smtClean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stock</a:t>
            </a:r>
            <a:r>
              <a:rPr lang="fr-FR" sz="1100" i="1" dirty="0" err="1" smtClean="0">
                <a:solidFill>
                  <a:schemeClr val="tx1"/>
                </a:solidFill>
                <a:latin typeface="+mj-lt"/>
                <a:ea typeface="Montserrat"/>
                <a:cs typeface="Montserrat"/>
                <a:sym typeface="Montserrat"/>
              </a:rPr>
              <a:t>_</a:t>
            </a:r>
            <a:r>
              <a:rPr lang="fr-FR" sz="1100" i="1" dirty="0" err="1" smtClean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quantity</a:t>
            </a:r>
            <a:r>
              <a:rPr lang="fr-FR" sz="1100" i="1" dirty="0" smtClean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;</a:t>
            </a:r>
            <a:endParaRPr sz="1100" i="1" dirty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lvl="0">
              <a:buClr>
                <a:srgbClr val="999999"/>
              </a:buClr>
              <a:buFont typeface="Montserrat"/>
              <a:buChar char="●"/>
            </a:pPr>
            <a:r>
              <a:rPr lang="fr-FR" sz="1200" b="1" i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Difficultés </a:t>
            </a:r>
            <a:r>
              <a:rPr lang="fr-FR" sz="1200" b="1" i="1" dirty="0" smtClean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rencontrées</a:t>
            </a:r>
            <a:r>
              <a:rPr lang="fr-FR" sz="1200" i="1" dirty="0" smtClean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: Mélange </a:t>
            </a:r>
            <a:r>
              <a:rPr lang="fr-FR" sz="1200" i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de types dans la colonne </a:t>
            </a:r>
            <a:r>
              <a:rPr lang="fr-FR" sz="1200" i="1" dirty="0" err="1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sku</a:t>
            </a:r>
            <a:r>
              <a:rPr lang="fr-FR" sz="1200" i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 (entiers et chaînes de caractères)Présence d'entités non-produits dans les données : bons cadeaux (bon-cadeau-25-euros, 13127-1)Export WordPress incluant les images des produits comme lignes séparées avec le même SKU</a:t>
            </a:r>
            <a:r>
              <a:rPr lang="fr" sz="1200" i="1" dirty="0" smtClean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Remarques </a:t>
            </a:r>
            <a:r>
              <a:rPr lang="fr" sz="1200" i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éventuelles, pièges ou difficultés </a:t>
            </a:r>
            <a:r>
              <a:rPr lang="fr" sz="1200" i="1" dirty="0" smtClean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rencontrées</a:t>
            </a:r>
            <a:r>
              <a:rPr lang="" sz="1200" i="1" dirty="0" smtClean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  <a:p>
            <a:pPr lvl="0">
              <a:buClr>
                <a:srgbClr val="999999"/>
              </a:buClr>
              <a:buFont typeface="Montserrat"/>
              <a:buChar char="●"/>
            </a:pPr>
            <a:r>
              <a:rPr lang="fr-FR" sz="1200" b="1" i="1" dirty="0">
                <a:solidFill>
                  <a:schemeClr val="tx1"/>
                </a:solidFill>
                <a:latin typeface="Montserrat" panose="020B0604020202020204" charset="0"/>
              </a:rPr>
              <a:t>Outils utilisés</a:t>
            </a:r>
            <a:r>
              <a:rPr lang="fr-FR" sz="1200" i="1" dirty="0">
                <a:solidFill>
                  <a:schemeClr val="tx1"/>
                </a:solidFill>
                <a:latin typeface="Montserrat" panose="020B0604020202020204" charset="0"/>
              </a:rPr>
              <a:t> : </a:t>
            </a:r>
            <a:r>
              <a:rPr lang="fr-FR" sz="1200" b="1" i="1" dirty="0">
                <a:solidFill>
                  <a:schemeClr val="accent1">
                    <a:lumMod val="75000"/>
                  </a:schemeClr>
                </a:solidFill>
                <a:latin typeface="Montserrat" panose="020B0604020202020204" charset="0"/>
              </a:rPr>
              <a:t>Python 3.13 </a:t>
            </a:r>
            <a:r>
              <a:rPr lang="fr-FR" sz="1200" i="1" dirty="0">
                <a:solidFill>
                  <a:schemeClr val="tx1"/>
                </a:solidFill>
                <a:latin typeface="Montserrat" panose="020B0604020202020204" charset="0"/>
              </a:rPr>
              <a:t>avec la bibliothèque </a:t>
            </a:r>
            <a:r>
              <a:rPr lang="fr-FR" sz="1200" b="1" i="1" dirty="0">
                <a:solidFill>
                  <a:schemeClr val="accent1">
                    <a:lumMod val="75000"/>
                  </a:schemeClr>
                </a:solidFill>
                <a:latin typeface="Montserrat" panose="020B0604020202020204" charset="0"/>
              </a:rPr>
              <a:t>pandas</a:t>
            </a:r>
            <a:r>
              <a:rPr lang="fr-FR" sz="1200" i="1" dirty="0">
                <a:solidFill>
                  <a:schemeClr val="tx1"/>
                </a:solidFill>
                <a:latin typeface="Montserrat" panose="020B0604020202020204" charset="0"/>
              </a:rPr>
              <a:t> pour la détection systématique des erreurs et le nettoyage des données.</a:t>
            </a:r>
            <a:r>
              <a:rPr lang="fr" sz="1200" i="1" dirty="0" smtClean="0">
                <a:solidFill>
                  <a:schemeClr val="tx1"/>
                </a:solidFill>
                <a:latin typeface="Montserrat" panose="020B0604020202020204" charset="0"/>
                <a:ea typeface="Montserrat"/>
                <a:cs typeface="Montserrat"/>
                <a:sym typeface="Montserrat"/>
              </a:rPr>
              <a:t> </a:t>
            </a:r>
            <a:endParaRPr sz="1200" i="1" dirty="0">
              <a:solidFill>
                <a:schemeClr val="tx1"/>
              </a:solidFill>
              <a:latin typeface="Montserrat" panose="020B0604020202020204" charset="0"/>
              <a:ea typeface="Montserrat"/>
              <a:cs typeface="Montserrat"/>
              <a:sym typeface="Montserrat"/>
            </a:endParaRPr>
          </a:p>
        </p:txBody>
      </p:sp>
      <p:sp>
        <p:nvSpPr>
          <p:cNvPr id="64" name="Google Shape;64;p4"/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highlight>
                <a:srgbClr val="B6D7A8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4"/>
          <p:cNvSpPr txBox="1"/>
          <p:nvPr/>
        </p:nvSpPr>
        <p:spPr>
          <a:xfrm>
            <a:off x="895525" y="3372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b="0" i="0" u="none" strike="noStrike" cap="none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0"/>
                  </a:ext>
                </a:extLst>
              </a:rPr>
              <a:t>Analyses </a:t>
            </a:r>
            <a:r>
              <a:rPr lang="fr" sz="2500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1"/>
                  </a:ext>
                </a:extLst>
              </a:rPr>
              <a:t>Exploratoires</a:t>
            </a:r>
            <a:r>
              <a:rPr lang="fr" sz="2500" b="0" i="0" u="none" strike="noStrike" cap="none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2"/>
                  </a:ext>
                </a:extLst>
              </a:rPr>
              <a:t> des Données </a:t>
            </a:r>
            <a:endParaRPr sz="2500" b="0" i="0" u="none" strike="noStrike" cap="none" dirty="0">
              <a:solidFill>
                <a:srgbClr val="F3F3F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6" name="Google Shape;66;p4"/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4"/>
          <p:cNvSpPr txBox="1">
            <a:spLocks noGrp="1"/>
          </p:cNvSpPr>
          <p:nvPr>
            <p:ph type="body" idx="1"/>
          </p:nvPr>
        </p:nvSpPr>
        <p:spPr>
          <a:xfrm>
            <a:off x="1" y="1473600"/>
            <a:ext cx="9051902" cy="361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>
              <a:buClr>
                <a:srgbClr val="999999"/>
              </a:buClr>
              <a:buFont typeface="Montserrat"/>
              <a:buChar char="●"/>
            </a:pPr>
            <a:r>
              <a:rPr lang="fr-FR" sz="1200" b="1" i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Erreur 1 : Valeurs négatives dans </a:t>
            </a:r>
            <a:r>
              <a:rPr lang="fr-FR" sz="1200" b="1" i="1" dirty="0" err="1">
                <a:solidFill>
                  <a:schemeClr val="accent4">
                    <a:lumMod val="75000"/>
                  </a:schemeClr>
                </a:solidFill>
                <a:latin typeface="Montserrat"/>
                <a:ea typeface="Montserrat"/>
                <a:cs typeface="Montserrat"/>
                <a:sym typeface="Montserrat"/>
              </a:rPr>
              <a:t>price</a:t>
            </a:r>
            <a:r>
              <a:rPr lang="fr-FR" sz="1200" b="1" i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:</a:t>
            </a:r>
            <a:endParaRPr lang="" sz="1200" b="1" i="1" dirty="0" smtClean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lvl="0">
              <a:buClr>
                <a:srgbClr val="999999"/>
              </a:buClr>
              <a:buFont typeface="Montserrat"/>
              <a:buChar char="●"/>
            </a:pPr>
            <a:endParaRPr lang="" sz="1200" b="1" i="1" dirty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lvl="0">
              <a:buClr>
                <a:srgbClr val="999999"/>
              </a:buClr>
              <a:buFont typeface="Montserrat"/>
              <a:buChar char="●"/>
            </a:pPr>
            <a:endParaRPr lang="" sz="1200" b="1" i="1" dirty="0" smtClean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lvl="0">
              <a:buClr>
                <a:srgbClr val="999999"/>
              </a:buClr>
              <a:buFont typeface="Montserrat"/>
              <a:buChar char="●"/>
            </a:pPr>
            <a:endParaRPr lang="" sz="1200" b="1" i="1" dirty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lvl="0">
              <a:buClr>
                <a:srgbClr val="999999"/>
              </a:buClr>
              <a:buFont typeface="Montserrat"/>
              <a:buChar char="●"/>
            </a:pPr>
            <a:endParaRPr lang="" sz="1200" b="1" i="1" dirty="0" smtClean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lvl="0">
              <a:buClr>
                <a:srgbClr val="999999"/>
              </a:buClr>
              <a:buFont typeface="Montserrat"/>
              <a:buChar char="●"/>
            </a:pPr>
            <a:endParaRPr lang="" sz="1200" b="1" i="1" dirty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lvl="0">
              <a:buClr>
                <a:srgbClr val="999999"/>
              </a:buClr>
              <a:buFont typeface="Montserrat"/>
              <a:buChar char="●"/>
            </a:pPr>
            <a:endParaRPr lang="" sz="1200" b="1" i="1" dirty="0" smtClean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14300" lvl="0" indent="0">
              <a:buClr>
                <a:srgbClr val="999999"/>
              </a:buClr>
              <a:buNone/>
            </a:pPr>
            <a:r>
              <a:rPr lang="en-US" sz="1200" dirty="0" err="1">
                <a:solidFill>
                  <a:schemeClr val="tx1"/>
                </a:solidFill>
              </a:rPr>
              <a:t>Détection</a:t>
            </a:r>
            <a:r>
              <a:rPr lang="en-US" sz="1200" dirty="0">
                <a:solidFill>
                  <a:schemeClr val="tx1"/>
                </a:solidFill>
              </a:rPr>
              <a:t> Python : </a:t>
            </a:r>
            <a:r>
              <a:rPr lang="en-US" sz="1200" dirty="0" err="1">
                <a:solidFill>
                  <a:schemeClr val="accent1">
                    <a:lumMod val="75000"/>
                  </a:schemeClr>
                </a:solidFill>
              </a:rPr>
              <a:t>erp</a:t>
            </a:r>
            <a:r>
              <a:rPr lang="en-US" sz="1200" dirty="0">
                <a:solidFill>
                  <a:schemeClr val="accent1">
                    <a:lumMod val="75000"/>
                  </a:schemeClr>
                </a:solidFill>
              </a:rPr>
              <a:t>[</a:t>
            </a:r>
            <a:r>
              <a:rPr lang="en-US" sz="1200" dirty="0" err="1">
                <a:solidFill>
                  <a:schemeClr val="accent1">
                    <a:lumMod val="75000"/>
                  </a:schemeClr>
                </a:solidFill>
              </a:rPr>
              <a:t>erp</a:t>
            </a:r>
            <a:r>
              <a:rPr lang="en-US" sz="1200" dirty="0">
                <a:solidFill>
                  <a:schemeClr val="accent1">
                    <a:lumMod val="75000"/>
                  </a:schemeClr>
                </a:solidFill>
              </a:rPr>
              <a:t>["price"] &lt; 0</a:t>
            </a:r>
            <a:r>
              <a:rPr lang="en-US" sz="1200" dirty="0" smtClean="0">
                <a:solidFill>
                  <a:schemeClr val="accent1">
                    <a:lumMod val="75000"/>
                  </a:schemeClr>
                </a:solidFill>
              </a:rPr>
              <a:t>]</a:t>
            </a:r>
            <a:endParaRPr lang="" sz="1200" dirty="0" smtClean="0">
              <a:solidFill>
                <a:schemeClr val="accent1">
                  <a:lumMod val="75000"/>
                </a:schemeClr>
              </a:solidFill>
            </a:endParaRPr>
          </a:p>
          <a:p>
            <a:pPr marL="114300" lvl="0" indent="0">
              <a:buClr>
                <a:srgbClr val="999999"/>
              </a:buClr>
              <a:buNone/>
            </a:pPr>
            <a:endParaRPr lang="" sz="1200" b="1" i="1" dirty="0" smtClean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lvl="0">
              <a:buClr>
                <a:srgbClr val="999999"/>
              </a:buClr>
              <a:buFont typeface="Montserrat"/>
              <a:buChar char="●"/>
            </a:pPr>
            <a:r>
              <a:rPr lang="fr-FR" sz="1200" b="1" i="1" dirty="0" smtClean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Erreur </a:t>
            </a:r>
            <a:r>
              <a:rPr lang="fr-FR" sz="1200" b="1" i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2 : Valeurs négatives dans </a:t>
            </a:r>
            <a:r>
              <a:rPr lang="fr-FR" sz="1200" b="1" i="1" dirty="0" err="1">
                <a:solidFill>
                  <a:schemeClr val="accent4">
                    <a:lumMod val="75000"/>
                  </a:schemeClr>
                </a:solidFill>
                <a:latin typeface="Montserrat"/>
                <a:ea typeface="Montserrat"/>
                <a:cs typeface="Montserrat"/>
                <a:sym typeface="Montserrat"/>
              </a:rPr>
              <a:t>stock_quantity</a:t>
            </a:r>
            <a:r>
              <a:rPr lang="fr-FR" sz="1200" i="1" dirty="0" smtClean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:</a:t>
            </a:r>
            <a:endParaRPr lang="" sz="1200" i="1" dirty="0" smtClean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lvl="0">
              <a:buClr>
                <a:srgbClr val="999999"/>
              </a:buClr>
              <a:buFont typeface="Montserrat"/>
              <a:buChar char="●"/>
            </a:pPr>
            <a:endParaRPr lang="" sz="1200" i="1" dirty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lvl="0">
              <a:buClr>
                <a:srgbClr val="999999"/>
              </a:buClr>
              <a:buFont typeface="Montserrat"/>
              <a:buChar char="●"/>
            </a:pPr>
            <a:endParaRPr lang="" sz="1200" i="1" dirty="0" smtClean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lvl="0">
              <a:buClr>
                <a:srgbClr val="999999"/>
              </a:buClr>
              <a:buFont typeface="Montserrat"/>
              <a:buChar char="●"/>
            </a:pPr>
            <a:endParaRPr lang="" sz="1200" i="1" dirty="0" smtClean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lvl="0">
              <a:buClr>
                <a:srgbClr val="999999"/>
              </a:buClr>
              <a:buFont typeface="Montserrat"/>
              <a:buChar char="●"/>
            </a:pPr>
            <a:endParaRPr lang="" sz="1200" i="1" dirty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lvl="0">
              <a:buClr>
                <a:srgbClr val="999999"/>
              </a:buClr>
              <a:buFont typeface="Montserrat"/>
              <a:buChar char="●"/>
            </a:pPr>
            <a:endParaRPr lang="" sz="1200" i="1" dirty="0" smtClean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14300" lvl="0" indent="0">
              <a:buClr>
                <a:srgbClr val="999999"/>
              </a:buClr>
              <a:buNone/>
            </a:pPr>
            <a:r>
              <a:rPr lang="en-US" sz="1200" dirty="0" err="1">
                <a:solidFill>
                  <a:schemeClr val="tx1"/>
                </a:solidFill>
              </a:rPr>
              <a:t>Détection</a:t>
            </a:r>
            <a:r>
              <a:rPr lang="en-US" sz="1200" dirty="0">
                <a:solidFill>
                  <a:schemeClr val="tx1"/>
                </a:solidFill>
              </a:rPr>
              <a:t> Python </a:t>
            </a:r>
            <a:r>
              <a:rPr lang="en-US" sz="1200" dirty="0" smtClean="0">
                <a:solidFill>
                  <a:schemeClr val="tx1"/>
                </a:solidFill>
              </a:rPr>
              <a:t>:</a:t>
            </a:r>
            <a:r>
              <a:rPr lang="" sz="1200" dirty="0" smtClean="0">
                <a:solidFill>
                  <a:schemeClr val="tx1"/>
                </a:solidFill>
              </a:rPr>
              <a:t> </a:t>
            </a:r>
            <a:r>
              <a:rPr lang="en-US" sz="1200" dirty="0" err="1">
                <a:solidFill>
                  <a:schemeClr val="accent1">
                    <a:lumMod val="75000"/>
                  </a:schemeClr>
                </a:solidFill>
              </a:rPr>
              <a:t>erp</a:t>
            </a:r>
            <a:r>
              <a:rPr lang="en-US" sz="1200" dirty="0">
                <a:solidFill>
                  <a:schemeClr val="accent1">
                    <a:lumMod val="75000"/>
                  </a:schemeClr>
                </a:solidFill>
              </a:rPr>
              <a:t>[</a:t>
            </a:r>
            <a:r>
              <a:rPr lang="en-US" sz="1200" dirty="0" err="1">
                <a:solidFill>
                  <a:schemeClr val="accent1">
                    <a:lumMod val="75000"/>
                  </a:schemeClr>
                </a:solidFill>
              </a:rPr>
              <a:t>erp</a:t>
            </a:r>
            <a:r>
              <a:rPr lang="en-US" sz="1200" dirty="0">
                <a:solidFill>
                  <a:schemeClr val="accent1">
                    <a:lumMod val="75000"/>
                  </a:schemeClr>
                </a:solidFill>
              </a:rPr>
              <a:t>["</a:t>
            </a:r>
            <a:r>
              <a:rPr lang="en-US" sz="1200" dirty="0" err="1">
                <a:solidFill>
                  <a:schemeClr val="accent1">
                    <a:lumMod val="75000"/>
                  </a:schemeClr>
                </a:solidFill>
              </a:rPr>
              <a:t>stock_quantity</a:t>
            </a:r>
            <a:r>
              <a:rPr lang="en-US" sz="1200" dirty="0">
                <a:solidFill>
                  <a:schemeClr val="accent1">
                    <a:lumMod val="75000"/>
                  </a:schemeClr>
                </a:solidFill>
              </a:rPr>
              <a:t>"] &lt; 0]</a:t>
            </a:r>
            <a:endParaRPr lang="" sz="1200" i="1" dirty="0" smtClean="0">
              <a:solidFill>
                <a:schemeClr val="accent1">
                  <a:lumMod val="75000"/>
                </a:schemeClr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4" name="Google Shape;64;p4"/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highlight>
                <a:srgbClr val="B6D7A8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4"/>
          <p:cNvSpPr txBox="1"/>
          <p:nvPr/>
        </p:nvSpPr>
        <p:spPr>
          <a:xfrm>
            <a:off x="895525" y="337250"/>
            <a:ext cx="6932792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>
              <a:buSzPts val="2500"/>
            </a:pPr>
            <a:r>
              <a:rPr lang="en-US" sz="2500" dirty="0" err="1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0"/>
                  </a:ext>
                </a:extLst>
              </a:rPr>
              <a:t>Erreurs</a:t>
            </a:r>
            <a:r>
              <a:rPr lang="en-US" sz="2500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0"/>
                  </a:ext>
                </a:extLst>
              </a:rPr>
              <a:t> </a:t>
            </a:r>
            <a:r>
              <a:rPr lang="en-US" sz="2500" dirty="0" err="1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0"/>
                  </a:ext>
                </a:extLst>
              </a:rPr>
              <a:t>détectées</a:t>
            </a:r>
            <a:endParaRPr sz="2500" b="0" i="0" u="none" strike="noStrike" cap="none" dirty="0">
              <a:solidFill>
                <a:srgbClr val="F3F3F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6" name="Google Shape;66;p4"/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883" y="1727450"/>
            <a:ext cx="2177456" cy="127083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02629" y="1844663"/>
            <a:ext cx="5951736" cy="103641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11312" y="2964473"/>
            <a:ext cx="3730081" cy="175561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7883" y="3748753"/>
            <a:ext cx="5085350" cy="704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934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4"/>
          <p:cNvSpPr txBox="1">
            <a:spLocks noGrp="1"/>
          </p:cNvSpPr>
          <p:nvPr>
            <p:ph type="body" idx="1"/>
          </p:nvPr>
        </p:nvSpPr>
        <p:spPr>
          <a:xfrm>
            <a:off x="1" y="1473600"/>
            <a:ext cx="9051902" cy="361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>
              <a:buClr>
                <a:srgbClr val="999999"/>
              </a:buClr>
              <a:buFont typeface="Montserrat"/>
              <a:buChar char="●"/>
            </a:pPr>
            <a:r>
              <a:rPr lang="fr-FR" sz="1200" b="1" i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Erreur 3 : Vente à perte (</a:t>
            </a:r>
            <a:r>
              <a:rPr lang="fr-FR" sz="1200" b="1" i="1" dirty="0" err="1">
                <a:solidFill>
                  <a:schemeClr val="accent4">
                    <a:lumMod val="75000"/>
                  </a:schemeClr>
                </a:solidFill>
                <a:latin typeface="Montserrat"/>
                <a:ea typeface="Montserrat"/>
                <a:cs typeface="Montserrat"/>
                <a:sym typeface="Montserrat"/>
              </a:rPr>
              <a:t>purchase_price</a:t>
            </a:r>
            <a:r>
              <a:rPr lang="fr-FR" sz="1200" b="1" i="1" dirty="0">
                <a:solidFill>
                  <a:schemeClr val="accent4">
                    <a:lumMod val="75000"/>
                  </a:schemeClr>
                </a:solidFill>
                <a:latin typeface="Montserrat"/>
                <a:ea typeface="Montserrat"/>
                <a:cs typeface="Montserrat"/>
                <a:sym typeface="Montserrat"/>
              </a:rPr>
              <a:t> &gt; </a:t>
            </a:r>
            <a:r>
              <a:rPr lang="fr-FR" sz="1200" b="1" i="1" dirty="0" err="1">
                <a:solidFill>
                  <a:schemeClr val="accent4">
                    <a:lumMod val="75000"/>
                  </a:schemeClr>
                </a:solidFill>
                <a:latin typeface="Montserrat"/>
                <a:ea typeface="Montserrat"/>
                <a:cs typeface="Montserrat"/>
                <a:sym typeface="Montserrat"/>
              </a:rPr>
              <a:t>price</a:t>
            </a:r>
            <a:r>
              <a:rPr lang="fr-FR" sz="1200" b="1" i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):</a:t>
            </a:r>
            <a:endParaRPr lang="" sz="1200" b="1" i="1" dirty="0" smtClean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lvl="0">
              <a:buClr>
                <a:srgbClr val="999999"/>
              </a:buClr>
              <a:buFont typeface="Montserrat"/>
              <a:buChar char="●"/>
            </a:pPr>
            <a:endParaRPr lang="" sz="1200" b="1" i="1" dirty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lvl="0">
              <a:buClr>
                <a:srgbClr val="999999"/>
              </a:buClr>
              <a:buFont typeface="Montserrat"/>
              <a:buChar char="●"/>
            </a:pPr>
            <a:endParaRPr lang="" sz="1200" b="1" i="1" dirty="0" smtClean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lvl="0">
              <a:buClr>
                <a:srgbClr val="999999"/>
              </a:buClr>
              <a:buFont typeface="Montserrat"/>
              <a:buChar char="●"/>
            </a:pPr>
            <a:endParaRPr lang="" sz="1200" b="1" i="1" dirty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lvl="0">
              <a:buClr>
                <a:srgbClr val="999999"/>
              </a:buClr>
              <a:buFont typeface="Montserrat"/>
              <a:buChar char="●"/>
            </a:pPr>
            <a:endParaRPr lang="" sz="1200" b="1" i="1" dirty="0" smtClean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lvl="0">
              <a:buClr>
                <a:srgbClr val="999999"/>
              </a:buClr>
              <a:buFont typeface="Montserrat"/>
              <a:buChar char="●"/>
            </a:pPr>
            <a:endParaRPr lang="" sz="1200" b="1" i="1" dirty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lvl="0">
              <a:buClr>
                <a:srgbClr val="999999"/>
              </a:buClr>
              <a:buFont typeface="Montserrat"/>
              <a:buChar char="●"/>
            </a:pPr>
            <a:endParaRPr lang="" sz="1200" b="1" i="1" dirty="0" smtClean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14300" lvl="0" indent="0">
              <a:buClr>
                <a:srgbClr val="999999"/>
              </a:buClr>
              <a:buNone/>
            </a:pPr>
            <a:r>
              <a:rPr lang="en-US" sz="1200" dirty="0" err="1">
                <a:solidFill>
                  <a:schemeClr val="tx1"/>
                </a:solidFill>
              </a:rPr>
              <a:t>Détection</a:t>
            </a:r>
            <a:r>
              <a:rPr lang="en-US" sz="1200" dirty="0">
                <a:solidFill>
                  <a:schemeClr val="tx1"/>
                </a:solidFill>
              </a:rPr>
              <a:t> Python : </a:t>
            </a:r>
            <a:r>
              <a:rPr lang="en-US" sz="1200" dirty="0" err="1">
                <a:solidFill>
                  <a:schemeClr val="accent1">
                    <a:lumMod val="75000"/>
                  </a:schemeClr>
                </a:solidFill>
              </a:rPr>
              <a:t>erp</a:t>
            </a:r>
            <a:r>
              <a:rPr lang="en-US" sz="1200" dirty="0">
                <a:solidFill>
                  <a:schemeClr val="accent1">
                    <a:lumMod val="75000"/>
                  </a:schemeClr>
                </a:solidFill>
              </a:rPr>
              <a:t>[</a:t>
            </a:r>
            <a:r>
              <a:rPr lang="en-US" sz="1200" dirty="0" err="1">
                <a:solidFill>
                  <a:schemeClr val="accent1">
                    <a:lumMod val="75000"/>
                  </a:schemeClr>
                </a:solidFill>
              </a:rPr>
              <a:t>erp</a:t>
            </a:r>
            <a:r>
              <a:rPr lang="en-US" sz="1200" dirty="0">
                <a:solidFill>
                  <a:schemeClr val="accent1">
                    <a:lumMod val="75000"/>
                  </a:schemeClr>
                </a:solidFill>
              </a:rPr>
              <a:t>["</a:t>
            </a:r>
            <a:r>
              <a:rPr lang="en-US" sz="1200" dirty="0" err="1">
                <a:solidFill>
                  <a:schemeClr val="accent1">
                    <a:lumMod val="75000"/>
                  </a:schemeClr>
                </a:solidFill>
              </a:rPr>
              <a:t>purchase_price</a:t>
            </a:r>
            <a:r>
              <a:rPr lang="en-US" sz="1200" dirty="0">
                <a:solidFill>
                  <a:schemeClr val="accent1">
                    <a:lumMod val="75000"/>
                  </a:schemeClr>
                </a:solidFill>
              </a:rPr>
              <a:t>"] &gt; </a:t>
            </a:r>
            <a:r>
              <a:rPr lang="en-US" sz="1200" dirty="0" err="1">
                <a:solidFill>
                  <a:schemeClr val="accent1">
                    <a:lumMod val="75000"/>
                  </a:schemeClr>
                </a:solidFill>
              </a:rPr>
              <a:t>erp</a:t>
            </a:r>
            <a:r>
              <a:rPr lang="en-US" sz="1200" dirty="0">
                <a:solidFill>
                  <a:schemeClr val="accent1">
                    <a:lumMod val="75000"/>
                  </a:schemeClr>
                </a:solidFill>
              </a:rPr>
              <a:t>["price</a:t>
            </a:r>
            <a:r>
              <a:rPr lang="en-US" sz="1200" dirty="0" smtClean="0">
                <a:solidFill>
                  <a:schemeClr val="accent1">
                    <a:lumMod val="75000"/>
                  </a:schemeClr>
                </a:solidFill>
              </a:rPr>
              <a:t>"]]</a:t>
            </a:r>
            <a:endParaRPr lang="" sz="1200" dirty="0" smtClean="0">
              <a:solidFill>
                <a:schemeClr val="accent1">
                  <a:lumMod val="75000"/>
                </a:schemeClr>
              </a:solidFill>
            </a:endParaRPr>
          </a:p>
          <a:p>
            <a:pPr marL="114300" lvl="0" indent="0">
              <a:buClr>
                <a:srgbClr val="999999"/>
              </a:buClr>
              <a:buNone/>
            </a:pPr>
            <a:endParaRPr lang="" sz="1200" b="1" i="1" dirty="0" smtClean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lvl="0">
              <a:buClr>
                <a:srgbClr val="999999"/>
              </a:buClr>
              <a:buFont typeface="Montserrat"/>
              <a:buChar char="●"/>
            </a:pPr>
            <a:r>
              <a:rPr lang="fr-FR" sz="1200" b="1" i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Erreur 4 </a:t>
            </a:r>
            <a:r>
              <a:rPr lang="fr-FR" sz="1200" b="1" i="1" dirty="0" smtClean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:</a:t>
            </a:r>
            <a:r>
              <a:rPr lang="" sz="1200" b="1" i="1" dirty="0" smtClean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fr-FR" sz="1200" b="1" i="1" dirty="0" smtClean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Incohérence </a:t>
            </a:r>
            <a:r>
              <a:rPr lang="fr-FR" sz="1200" b="1" i="1" dirty="0" err="1">
                <a:solidFill>
                  <a:schemeClr val="accent4">
                    <a:lumMod val="75000"/>
                  </a:schemeClr>
                </a:solidFill>
                <a:latin typeface="Montserrat"/>
                <a:ea typeface="Montserrat"/>
                <a:cs typeface="Montserrat"/>
                <a:sym typeface="Montserrat"/>
              </a:rPr>
              <a:t>stock_status</a:t>
            </a:r>
            <a:r>
              <a:rPr lang="fr-FR" sz="1200" b="1" i="1" dirty="0">
                <a:solidFill>
                  <a:schemeClr val="accent4">
                    <a:lumMod val="75000"/>
                  </a:schemeClr>
                </a:solidFill>
                <a:latin typeface="Montserrat"/>
                <a:ea typeface="Montserrat"/>
                <a:cs typeface="Montserrat"/>
                <a:sym typeface="Montserrat"/>
              </a:rPr>
              <a:t> / </a:t>
            </a:r>
            <a:r>
              <a:rPr lang="fr-FR" sz="1200" b="1" i="1" dirty="0" err="1">
                <a:solidFill>
                  <a:schemeClr val="accent4">
                    <a:lumMod val="75000"/>
                  </a:schemeClr>
                </a:solidFill>
                <a:latin typeface="Montserrat"/>
                <a:ea typeface="Montserrat"/>
                <a:cs typeface="Montserrat"/>
                <a:sym typeface="Montserrat"/>
              </a:rPr>
              <a:t>stock_quantity</a:t>
            </a:r>
            <a:r>
              <a:rPr lang="fr-FR" sz="1200" b="1" i="1" dirty="0">
                <a:solidFill>
                  <a:schemeClr val="accent4">
                    <a:lumMod val="75000"/>
                  </a:schemeClr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fr-FR" sz="1200" i="1" dirty="0" smtClean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:</a:t>
            </a:r>
            <a:endParaRPr lang="" sz="1200" i="1" dirty="0" smtClean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lvl="0">
              <a:buClr>
                <a:srgbClr val="999999"/>
              </a:buClr>
              <a:buFont typeface="Montserrat"/>
              <a:buChar char="●"/>
            </a:pPr>
            <a:endParaRPr lang="" sz="1200" i="1" dirty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lvl="0">
              <a:buClr>
                <a:srgbClr val="999999"/>
              </a:buClr>
              <a:buFont typeface="Montserrat"/>
              <a:buChar char="●"/>
            </a:pPr>
            <a:endParaRPr lang="" sz="1200" i="1" dirty="0" smtClean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lvl="0">
              <a:buClr>
                <a:srgbClr val="999999"/>
              </a:buClr>
              <a:buFont typeface="Montserrat"/>
              <a:buChar char="●"/>
            </a:pPr>
            <a:endParaRPr lang="" sz="1200" i="1" dirty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lvl="0">
              <a:buClr>
                <a:srgbClr val="999999"/>
              </a:buClr>
              <a:buFont typeface="Montserrat"/>
              <a:buChar char="●"/>
            </a:pPr>
            <a:endParaRPr lang="" sz="1200" i="1" dirty="0" smtClean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lvl="0">
              <a:buClr>
                <a:srgbClr val="999999"/>
              </a:buClr>
              <a:buFont typeface="Montserrat"/>
              <a:buChar char="●"/>
            </a:pPr>
            <a:endParaRPr lang="" sz="1200" i="1" dirty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14300" indent="0">
              <a:buClr>
                <a:srgbClr val="999999"/>
              </a:buClr>
              <a:buNone/>
            </a:pPr>
            <a:r>
              <a:rPr lang="en-US" sz="1200" dirty="0" err="1">
                <a:solidFill>
                  <a:schemeClr val="tx1"/>
                </a:solidFill>
                <a:sym typeface="Montserrat"/>
              </a:rPr>
              <a:t>Détection</a:t>
            </a:r>
            <a:r>
              <a:rPr lang="en-US" sz="1200" dirty="0">
                <a:solidFill>
                  <a:schemeClr val="tx1"/>
                </a:solidFill>
                <a:sym typeface="Montserrat"/>
              </a:rPr>
              <a:t> </a:t>
            </a:r>
            <a:r>
              <a:rPr lang="en-US" sz="1200" dirty="0" smtClean="0">
                <a:solidFill>
                  <a:schemeClr val="tx1"/>
                </a:solidFill>
                <a:sym typeface="Montserrat"/>
              </a:rPr>
              <a:t>Python:</a:t>
            </a:r>
            <a:r>
              <a:rPr lang="" sz="1200" dirty="0" smtClean="0">
                <a:solidFill>
                  <a:schemeClr val="tx1"/>
                </a:solidFill>
                <a:sym typeface="Montserrat"/>
              </a:rPr>
              <a:t> </a:t>
            </a:r>
            <a:r>
              <a:rPr lang="en-US" sz="1200" dirty="0" err="1" smtClean="0">
                <a:solidFill>
                  <a:schemeClr val="accent1">
                    <a:lumMod val="75000"/>
                  </a:schemeClr>
                </a:solidFill>
                <a:sym typeface="Montserrat"/>
              </a:rPr>
              <a:t>erp</a:t>
            </a:r>
            <a:r>
              <a:rPr lang="en-US" sz="1200" dirty="0" smtClean="0">
                <a:solidFill>
                  <a:schemeClr val="accent1">
                    <a:lumMod val="75000"/>
                  </a:schemeClr>
                </a:solidFill>
                <a:sym typeface="Montserrat"/>
              </a:rPr>
              <a:t>[(</a:t>
            </a:r>
            <a:r>
              <a:rPr lang="en-US" sz="1200" dirty="0" err="1" smtClean="0">
                <a:solidFill>
                  <a:schemeClr val="accent1">
                    <a:lumMod val="75000"/>
                  </a:schemeClr>
                </a:solidFill>
                <a:sym typeface="Montserrat"/>
              </a:rPr>
              <a:t>erp</a:t>
            </a:r>
            <a:r>
              <a:rPr lang="en-US" sz="1200" dirty="0" smtClean="0">
                <a:solidFill>
                  <a:schemeClr val="accent1">
                    <a:lumMod val="75000"/>
                  </a:schemeClr>
                </a:solidFill>
                <a:sym typeface="Montserrat"/>
              </a:rPr>
              <a:t>["</a:t>
            </a:r>
            <a:r>
              <a:rPr lang="en-US" sz="1200" dirty="0" err="1" smtClean="0">
                <a:solidFill>
                  <a:schemeClr val="accent1">
                    <a:lumMod val="75000"/>
                  </a:schemeClr>
                </a:solidFill>
                <a:sym typeface="Montserrat"/>
              </a:rPr>
              <a:t>stock_status</a:t>
            </a:r>
            <a:r>
              <a:rPr lang="en-US" sz="1200" dirty="0" smtClean="0">
                <a:solidFill>
                  <a:schemeClr val="accent1">
                    <a:lumMod val="75000"/>
                  </a:schemeClr>
                </a:solidFill>
                <a:sym typeface="Montserrat"/>
              </a:rPr>
              <a:t>"] == "</a:t>
            </a:r>
            <a:r>
              <a:rPr lang="en-US" sz="1200" dirty="0" err="1" smtClean="0">
                <a:solidFill>
                  <a:schemeClr val="accent1">
                    <a:lumMod val="75000"/>
                  </a:schemeClr>
                </a:solidFill>
                <a:sym typeface="Montserrat"/>
              </a:rPr>
              <a:t>instock</a:t>
            </a:r>
            <a:r>
              <a:rPr lang="en-US" sz="1200" dirty="0" smtClean="0">
                <a:solidFill>
                  <a:schemeClr val="accent1">
                    <a:lumMod val="75000"/>
                  </a:schemeClr>
                </a:solidFill>
                <a:sym typeface="Montserrat"/>
              </a:rPr>
              <a:t>") &amp; (</a:t>
            </a:r>
            <a:r>
              <a:rPr lang="en-US" sz="1200" dirty="0" err="1" smtClean="0">
                <a:solidFill>
                  <a:schemeClr val="accent1">
                    <a:lumMod val="75000"/>
                  </a:schemeClr>
                </a:solidFill>
                <a:sym typeface="Montserrat"/>
              </a:rPr>
              <a:t>erp</a:t>
            </a:r>
            <a:r>
              <a:rPr lang="en-US" sz="1200" dirty="0" smtClean="0">
                <a:solidFill>
                  <a:schemeClr val="accent1">
                    <a:lumMod val="75000"/>
                  </a:schemeClr>
                </a:solidFill>
                <a:sym typeface="Montserrat"/>
              </a:rPr>
              <a:t>["</a:t>
            </a:r>
            <a:r>
              <a:rPr lang="en-US" sz="1200" dirty="0" err="1" smtClean="0">
                <a:solidFill>
                  <a:schemeClr val="accent1">
                    <a:lumMod val="75000"/>
                  </a:schemeClr>
                </a:solidFill>
                <a:sym typeface="Montserrat"/>
              </a:rPr>
              <a:t>stock_quantity</a:t>
            </a:r>
            <a:r>
              <a:rPr lang="en-US" sz="1200" dirty="0" smtClean="0">
                <a:solidFill>
                  <a:schemeClr val="accent1">
                    <a:lumMod val="75000"/>
                  </a:schemeClr>
                </a:solidFill>
                <a:sym typeface="Montserrat"/>
              </a:rPr>
              <a:t>"] == 0)]</a:t>
            </a:r>
            <a:endParaRPr lang="" sz="1200" dirty="0">
              <a:solidFill>
                <a:schemeClr val="accent1">
                  <a:lumMod val="75000"/>
                </a:schemeClr>
              </a:solidFill>
              <a:sym typeface="Montserrat"/>
            </a:endParaRPr>
          </a:p>
        </p:txBody>
      </p:sp>
      <p:sp>
        <p:nvSpPr>
          <p:cNvPr id="64" name="Google Shape;64;p4"/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highlight>
                <a:srgbClr val="B6D7A8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4"/>
          <p:cNvSpPr txBox="1"/>
          <p:nvPr/>
        </p:nvSpPr>
        <p:spPr>
          <a:xfrm>
            <a:off x="895525" y="337250"/>
            <a:ext cx="6932792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>
              <a:buSzPts val="2500"/>
            </a:pPr>
            <a:r>
              <a:rPr lang="en-US" sz="2500" dirty="0" err="1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0"/>
                  </a:ext>
                </a:extLst>
              </a:rPr>
              <a:t>Erreurs</a:t>
            </a:r>
            <a:r>
              <a:rPr lang="en-US" sz="2500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0"/>
                  </a:ext>
                </a:extLst>
              </a:rPr>
              <a:t> </a:t>
            </a:r>
            <a:r>
              <a:rPr lang="en-US" sz="2500" dirty="0" err="1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0"/>
                  </a:ext>
                </a:extLst>
              </a:rPr>
              <a:t>détectées</a:t>
            </a:r>
            <a:endParaRPr sz="2500" b="0" i="0" u="none" strike="noStrike" cap="none" dirty="0">
              <a:solidFill>
                <a:srgbClr val="F3F3F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6" name="Google Shape;66;p4"/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5873" y="1818639"/>
            <a:ext cx="4532095" cy="1109801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0497" y="3655610"/>
            <a:ext cx="5182845" cy="1061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389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4"/>
          <p:cNvSpPr txBox="1">
            <a:spLocks noGrp="1"/>
          </p:cNvSpPr>
          <p:nvPr>
            <p:ph type="body" idx="1"/>
          </p:nvPr>
        </p:nvSpPr>
        <p:spPr>
          <a:xfrm>
            <a:off x="1" y="1473600"/>
            <a:ext cx="9051902" cy="361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>
              <a:buClr>
                <a:srgbClr val="999999"/>
              </a:buClr>
              <a:buFont typeface="Montserrat"/>
              <a:buChar char="●"/>
            </a:pPr>
            <a:r>
              <a:rPr lang="fr-FR" sz="1200" b="1" i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Erreur </a:t>
            </a:r>
            <a:r>
              <a:rPr lang="" sz="1200" b="1" i="1" dirty="0" smtClean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5</a:t>
            </a:r>
            <a:r>
              <a:rPr lang="fr-FR" sz="1200" b="1" i="1" dirty="0" smtClean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fr-FR" sz="1200" b="1" i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: Valeurs négatives dans </a:t>
            </a:r>
            <a:r>
              <a:rPr lang="fr-FR" sz="1200" b="1" i="1" dirty="0" err="1" smtClean="0">
                <a:solidFill>
                  <a:schemeClr val="accent4">
                    <a:lumMod val="75000"/>
                  </a:schemeClr>
                </a:solidFill>
                <a:latin typeface="Montserrat"/>
                <a:ea typeface="Montserrat"/>
                <a:cs typeface="Montserrat"/>
                <a:sym typeface="Montserrat"/>
              </a:rPr>
              <a:t>total_sales</a:t>
            </a:r>
            <a:r>
              <a:rPr lang="fr-FR" sz="1200" b="1" i="1" dirty="0" smtClean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:</a:t>
            </a:r>
            <a:endParaRPr lang="" sz="1200" b="1" i="1" dirty="0" smtClean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lvl="0">
              <a:buClr>
                <a:srgbClr val="999999"/>
              </a:buClr>
              <a:buFont typeface="Montserrat"/>
              <a:buChar char="●"/>
            </a:pPr>
            <a:endParaRPr lang="" sz="1200" b="1" i="1" dirty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lvl="0">
              <a:buClr>
                <a:srgbClr val="999999"/>
              </a:buClr>
              <a:buFont typeface="Montserrat"/>
              <a:buChar char="●"/>
            </a:pPr>
            <a:endParaRPr lang="" sz="1200" b="1" i="1" dirty="0" smtClean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lvl="0">
              <a:buClr>
                <a:srgbClr val="999999"/>
              </a:buClr>
              <a:buFont typeface="Montserrat"/>
              <a:buChar char="●"/>
            </a:pPr>
            <a:endParaRPr lang="" sz="1200" b="1" i="1" dirty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lvl="0">
              <a:buClr>
                <a:srgbClr val="999999"/>
              </a:buClr>
              <a:buFont typeface="Montserrat"/>
              <a:buChar char="●"/>
            </a:pPr>
            <a:endParaRPr lang="" sz="1200" b="1" i="1" dirty="0" smtClean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lvl="0">
              <a:buClr>
                <a:srgbClr val="999999"/>
              </a:buClr>
              <a:buFont typeface="Montserrat"/>
              <a:buChar char="●"/>
            </a:pPr>
            <a:endParaRPr lang="" sz="1200" b="1" i="1" dirty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lvl="0">
              <a:buClr>
                <a:srgbClr val="999999"/>
              </a:buClr>
              <a:buFont typeface="Montserrat"/>
              <a:buChar char="●"/>
            </a:pPr>
            <a:endParaRPr lang="" sz="1200" b="1" i="1" dirty="0" smtClean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14300" lvl="0" indent="0">
              <a:buClr>
                <a:srgbClr val="999999"/>
              </a:buClr>
              <a:buNone/>
            </a:pPr>
            <a:r>
              <a:rPr lang="en-US" sz="1200" dirty="0" err="1">
                <a:solidFill>
                  <a:schemeClr val="tx1"/>
                </a:solidFill>
              </a:rPr>
              <a:t>Détection</a:t>
            </a:r>
            <a:r>
              <a:rPr lang="en-US" sz="1200" dirty="0">
                <a:solidFill>
                  <a:schemeClr val="tx1"/>
                </a:solidFill>
              </a:rPr>
              <a:t> Python : </a:t>
            </a:r>
            <a:r>
              <a:rPr lang="en-US" sz="1200" dirty="0">
                <a:solidFill>
                  <a:schemeClr val="accent1">
                    <a:lumMod val="75000"/>
                  </a:schemeClr>
                </a:solidFill>
              </a:rPr>
              <a:t>web[web["</a:t>
            </a:r>
            <a:r>
              <a:rPr lang="en-US" sz="1200" dirty="0" err="1">
                <a:solidFill>
                  <a:schemeClr val="accent1">
                    <a:lumMod val="75000"/>
                  </a:schemeClr>
                </a:solidFill>
              </a:rPr>
              <a:t>total_sales</a:t>
            </a:r>
            <a:r>
              <a:rPr lang="en-US" sz="1200" dirty="0">
                <a:solidFill>
                  <a:schemeClr val="accent1">
                    <a:lumMod val="75000"/>
                  </a:schemeClr>
                </a:solidFill>
              </a:rPr>
              <a:t>"] &lt; 0]</a:t>
            </a:r>
            <a:endParaRPr lang="fr-FR" sz="1200" b="1" i="1" dirty="0" smtClean="0">
              <a:solidFill>
                <a:schemeClr val="accent1">
                  <a:lumMod val="75000"/>
                </a:schemeClr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lvl="0">
              <a:buClr>
                <a:srgbClr val="999999"/>
              </a:buClr>
              <a:buFont typeface="Montserrat"/>
              <a:buChar char="●"/>
            </a:pPr>
            <a:endParaRPr lang="" sz="1200" b="1" i="1" dirty="0" smtClean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lvl="0">
              <a:buClr>
                <a:srgbClr val="999999"/>
              </a:buClr>
              <a:buFont typeface="Montserrat"/>
              <a:buChar char="●"/>
            </a:pPr>
            <a:r>
              <a:rPr lang="fr-FR" sz="1200" b="1" i="1" dirty="0" smtClean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Erreur </a:t>
            </a:r>
            <a:r>
              <a:rPr lang="" sz="1200" b="1" i="1" dirty="0" smtClean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6</a:t>
            </a:r>
            <a:r>
              <a:rPr lang="fr-FR" sz="1200" b="1" i="1" dirty="0" smtClean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fr-FR" sz="1200" b="1" i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: </a:t>
            </a:r>
            <a:r>
              <a:rPr lang="fr-FR" sz="1200" b="1" i="1" dirty="0" err="1">
                <a:solidFill>
                  <a:schemeClr val="accent4">
                    <a:lumMod val="75000"/>
                  </a:schemeClr>
                </a:solidFill>
                <a:latin typeface="Montserrat"/>
                <a:ea typeface="Montserrat"/>
                <a:cs typeface="Montserrat"/>
                <a:sym typeface="Montserrat"/>
              </a:rPr>
              <a:t>sku</a:t>
            </a:r>
            <a:r>
              <a:rPr lang="fr-FR" sz="1200" b="1" i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 manquant dans web</a:t>
            </a:r>
            <a:r>
              <a:rPr lang="fr-FR" sz="1200" i="1" dirty="0" smtClean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:</a:t>
            </a:r>
            <a:endParaRPr lang="" sz="1200" i="1" dirty="0" smtClean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lvl="0">
              <a:buClr>
                <a:srgbClr val="999999"/>
              </a:buClr>
              <a:buFont typeface="Montserrat"/>
              <a:buChar char="●"/>
            </a:pPr>
            <a:endParaRPr lang="" sz="1200" i="1" dirty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lvl="0">
              <a:buClr>
                <a:srgbClr val="999999"/>
              </a:buClr>
              <a:buFont typeface="Montserrat"/>
              <a:buChar char="●"/>
            </a:pPr>
            <a:endParaRPr lang="" sz="1200" i="1" dirty="0" smtClean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lvl="0">
              <a:buClr>
                <a:srgbClr val="999999"/>
              </a:buClr>
              <a:buFont typeface="Montserrat"/>
              <a:buChar char="●"/>
            </a:pPr>
            <a:endParaRPr lang="" sz="1200" i="1" dirty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lvl="0">
              <a:buClr>
                <a:srgbClr val="999999"/>
              </a:buClr>
              <a:buFont typeface="Montserrat"/>
              <a:buChar char="●"/>
            </a:pPr>
            <a:endParaRPr lang="" sz="1200" i="1" dirty="0" smtClean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14300" indent="0">
              <a:buClr>
                <a:srgbClr val="999999"/>
              </a:buClr>
              <a:buNone/>
            </a:pPr>
            <a:r>
              <a:rPr lang="en-US" sz="1200" dirty="0" err="1">
                <a:solidFill>
                  <a:schemeClr val="tx1"/>
                </a:solidFill>
              </a:rPr>
              <a:t>Détection</a:t>
            </a:r>
            <a:r>
              <a:rPr lang="en-US" sz="1200" dirty="0">
                <a:solidFill>
                  <a:schemeClr val="tx1"/>
                </a:solidFill>
              </a:rPr>
              <a:t> Python : </a:t>
            </a:r>
            <a:r>
              <a:rPr lang="en-US" sz="1200" dirty="0">
                <a:solidFill>
                  <a:schemeClr val="accent1">
                    <a:lumMod val="75000"/>
                  </a:schemeClr>
                </a:solidFill>
                <a:sym typeface="Montserrat"/>
              </a:rPr>
              <a:t>web[web["</a:t>
            </a:r>
            <a:r>
              <a:rPr lang="en-US" sz="1200" dirty="0" err="1">
                <a:solidFill>
                  <a:schemeClr val="accent1">
                    <a:lumMod val="75000"/>
                  </a:schemeClr>
                </a:solidFill>
                <a:sym typeface="Montserrat"/>
              </a:rPr>
              <a:t>sku</a:t>
            </a:r>
            <a:r>
              <a:rPr lang="en-US" sz="1200" dirty="0">
                <a:solidFill>
                  <a:schemeClr val="accent1">
                    <a:lumMod val="75000"/>
                  </a:schemeClr>
                </a:solidFill>
                <a:sym typeface="Montserrat"/>
              </a:rPr>
              <a:t>"].</a:t>
            </a:r>
            <a:r>
              <a:rPr lang="en-US" sz="1200" dirty="0" err="1">
                <a:solidFill>
                  <a:schemeClr val="accent1">
                    <a:lumMod val="75000"/>
                  </a:schemeClr>
                </a:solidFill>
                <a:sym typeface="Montserrat"/>
              </a:rPr>
              <a:t>isna</a:t>
            </a:r>
            <a:r>
              <a:rPr lang="en-US" sz="1200" dirty="0">
                <a:solidFill>
                  <a:schemeClr val="accent1">
                    <a:lumMod val="75000"/>
                  </a:schemeClr>
                </a:solidFill>
                <a:sym typeface="Montserrat"/>
              </a:rPr>
              <a:t>()]</a:t>
            </a:r>
            <a:endParaRPr lang="" sz="1200" dirty="0">
              <a:solidFill>
                <a:schemeClr val="accent1">
                  <a:lumMod val="75000"/>
                </a:schemeClr>
              </a:solidFill>
              <a:sym typeface="Montserrat"/>
            </a:endParaRPr>
          </a:p>
        </p:txBody>
      </p:sp>
      <p:sp>
        <p:nvSpPr>
          <p:cNvPr id="64" name="Google Shape;64;p4"/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highlight>
                <a:srgbClr val="B6D7A8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4"/>
          <p:cNvSpPr txBox="1"/>
          <p:nvPr/>
        </p:nvSpPr>
        <p:spPr>
          <a:xfrm>
            <a:off x="895525" y="337250"/>
            <a:ext cx="6932792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>
              <a:buSzPts val="2500"/>
            </a:pPr>
            <a:r>
              <a:rPr lang="en-US" sz="2500" dirty="0" err="1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0"/>
                  </a:ext>
                </a:extLst>
              </a:rPr>
              <a:t>Erreurs</a:t>
            </a:r>
            <a:r>
              <a:rPr lang="en-US" sz="2500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0"/>
                  </a:ext>
                </a:extLst>
              </a:rPr>
              <a:t> </a:t>
            </a:r>
            <a:r>
              <a:rPr lang="en-US" sz="2500" dirty="0" err="1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0"/>
                  </a:ext>
                </a:extLst>
              </a:rPr>
              <a:t>détectées</a:t>
            </a:r>
            <a:endParaRPr sz="2500" b="0" i="0" u="none" strike="noStrike" cap="none" dirty="0">
              <a:solidFill>
                <a:srgbClr val="F3F3F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6" name="Google Shape;66;p4"/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859697"/>
            <a:ext cx="7108994" cy="1107169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3982" y="3282250"/>
            <a:ext cx="4346713" cy="1334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31152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4"/>
          <p:cNvSpPr txBox="1">
            <a:spLocks noGrp="1"/>
          </p:cNvSpPr>
          <p:nvPr>
            <p:ph type="body" idx="1"/>
          </p:nvPr>
        </p:nvSpPr>
        <p:spPr>
          <a:xfrm>
            <a:off x="1" y="1473600"/>
            <a:ext cx="9051902" cy="361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>
              <a:buClr>
                <a:srgbClr val="999999"/>
              </a:buClr>
              <a:buFont typeface="Montserrat"/>
              <a:buChar char="●"/>
            </a:pPr>
            <a:r>
              <a:rPr lang="fr-FR" sz="1200" b="1" i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Erreur </a:t>
            </a:r>
            <a:r>
              <a:rPr lang="" sz="1200" b="1" i="1" dirty="0" smtClean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7</a:t>
            </a:r>
            <a:r>
              <a:rPr lang="fr-FR" sz="1200" b="1" i="1" dirty="0" smtClean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fr-FR" sz="1200" b="1" i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: Colonnes </a:t>
            </a:r>
            <a:r>
              <a:rPr lang="fr-FR" sz="1200" b="1" i="1" dirty="0">
                <a:solidFill>
                  <a:schemeClr val="accent4">
                    <a:lumMod val="75000"/>
                  </a:schemeClr>
                </a:solidFill>
                <a:latin typeface="Montserrat"/>
                <a:ea typeface="Montserrat"/>
                <a:cs typeface="Montserrat"/>
                <a:sym typeface="Montserrat"/>
              </a:rPr>
              <a:t>entièrement vides </a:t>
            </a:r>
            <a:r>
              <a:rPr lang="fr-FR" sz="1200" b="1" i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dans web</a:t>
            </a:r>
            <a:r>
              <a:rPr lang="fr-FR" sz="1200" b="1" i="1" dirty="0" smtClean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:</a:t>
            </a:r>
            <a:endParaRPr lang="" sz="1200" b="1" i="1" dirty="0" smtClean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lvl="0">
              <a:buClr>
                <a:srgbClr val="999999"/>
              </a:buClr>
              <a:buFont typeface="Montserrat"/>
              <a:buChar char="●"/>
            </a:pPr>
            <a:endParaRPr lang="" sz="1200" b="1" i="1" dirty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lvl="0">
              <a:buClr>
                <a:srgbClr val="999999"/>
              </a:buClr>
              <a:buFont typeface="Montserrat"/>
              <a:buChar char="●"/>
            </a:pPr>
            <a:endParaRPr lang="" sz="1200" b="1" i="1" dirty="0" smtClean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14300" lvl="0" indent="0">
              <a:buClr>
                <a:srgbClr val="999999"/>
              </a:buClr>
              <a:buNone/>
            </a:pPr>
            <a:r>
              <a:rPr lang="en-US" sz="1200" dirty="0" err="1">
                <a:solidFill>
                  <a:schemeClr val="tx1"/>
                </a:solidFill>
              </a:rPr>
              <a:t>Détection</a:t>
            </a:r>
            <a:r>
              <a:rPr lang="en-US" sz="1200" dirty="0">
                <a:solidFill>
                  <a:schemeClr val="tx1"/>
                </a:solidFill>
              </a:rPr>
              <a:t> Python : </a:t>
            </a:r>
            <a:r>
              <a:rPr lang="en-US" sz="1200" dirty="0" err="1">
                <a:solidFill>
                  <a:schemeClr val="accent1">
                    <a:lumMod val="75000"/>
                  </a:schemeClr>
                </a:solidFill>
              </a:rPr>
              <a:t>web.isna</a:t>
            </a:r>
            <a:r>
              <a:rPr lang="en-US" sz="1200" dirty="0">
                <a:solidFill>
                  <a:schemeClr val="accent1">
                    <a:lumMod val="75000"/>
                  </a:schemeClr>
                </a:solidFill>
              </a:rPr>
              <a:t>().sum()[</a:t>
            </a:r>
            <a:r>
              <a:rPr lang="en-US" sz="1200" dirty="0" err="1">
                <a:solidFill>
                  <a:schemeClr val="accent1">
                    <a:lumMod val="75000"/>
                  </a:schemeClr>
                </a:solidFill>
              </a:rPr>
              <a:t>web.isna</a:t>
            </a:r>
            <a:r>
              <a:rPr lang="en-US" sz="1200" dirty="0">
                <a:solidFill>
                  <a:schemeClr val="accent1">
                    <a:lumMod val="75000"/>
                  </a:schemeClr>
                </a:solidFill>
              </a:rPr>
              <a:t>().sum() == </a:t>
            </a:r>
            <a:r>
              <a:rPr lang="en-US" sz="1200" dirty="0" err="1">
                <a:solidFill>
                  <a:schemeClr val="accent1">
                    <a:lumMod val="75000"/>
                  </a:schemeClr>
                </a:solidFill>
              </a:rPr>
              <a:t>len</a:t>
            </a:r>
            <a:r>
              <a:rPr lang="en-US" sz="1200" dirty="0">
                <a:solidFill>
                  <a:schemeClr val="accent1">
                    <a:lumMod val="75000"/>
                  </a:schemeClr>
                </a:solidFill>
              </a:rPr>
              <a:t>(web</a:t>
            </a:r>
            <a:r>
              <a:rPr lang="en-US" sz="1200" dirty="0" smtClean="0">
                <a:solidFill>
                  <a:schemeClr val="accent1">
                    <a:lumMod val="75000"/>
                  </a:schemeClr>
                </a:solidFill>
              </a:rPr>
              <a:t>)]</a:t>
            </a:r>
            <a:endParaRPr lang="" sz="1200" dirty="0" smtClean="0">
              <a:solidFill>
                <a:schemeClr val="accent1">
                  <a:lumMod val="75000"/>
                </a:schemeClr>
              </a:solidFill>
            </a:endParaRPr>
          </a:p>
          <a:p>
            <a:pPr marL="114300" lvl="0" indent="0">
              <a:buClr>
                <a:srgbClr val="999999"/>
              </a:buClr>
              <a:buNone/>
            </a:pPr>
            <a:endParaRPr lang="" sz="1200" b="1" i="1" dirty="0" smtClean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lvl="0">
              <a:buClr>
                <a:srgbClr val="999999"/>
              </a:buClr>
              <a:buFont typeface="Montserrat"/>
              <a:buChar char="●"/>
            </a:pPr>
            <a:r>
              <a:rPr lang="fr-FR" sz="1200" b="1" i="1" dirty="0" smtClean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Erreur </a:t>
            </a:r>
            <a:r>
              <a:rPr lang="" sz="1200" b="1" i="1" dirty="0" smtClean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8</a:t>
            </a:r>
            <a:r>
              <a:rPr lang="fr-FR" sz="1200" b="1" i="1" dirty="0" smtClean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fr-FR" sz="1200" b="1" i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: </a:t>
            </a:r>
            <a:r>
              <a:rPr lang="fr-FR" sz="1200" b="1" i="1" dirty="0" err="1">
                <a:solidFill>
                  <a:schemeClr val="accent4">
                    <a:lumMod val="75000"/>
                  </a:schemeClr>
                </a:solidFill>
                <a:latin typeface="Montserrat"/>
                <a:ea typeface="Montserrat"/>
                <a:cs typeface="Montserrat"/>
                <a:sym typeface="Montserrat"/>
              </a:rPr>
              <a:t>id_web</a:t>
            </a:r>
            <a:r>
              <a:rPr lang="fr-FR" sz="1200" b="1" i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 manquant dans la table de </a:t>
            </a:r>
            <a:r>
              <a:rPr lang="fr-FR" sz="1200" b="1" i="1" dirty="0" smtClean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liaison</a:t>
            </a:r>
            <a:r>
              <a:rPr lang="fr-FR" sz="1200" i="1" dirty="0" smtClean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:</a:t>
            </a:r>
            <a:endParaRPr lang="" sz="1200" i="1" dirty="0" smtClean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lvl="0">
              <a:buClr>
                <a:srgbClr val="999999"/>
              </a:buClr>
              <a:buFont typeface="Montserrat"/>
              <a:buChar char="●"/>
            </a:pPr>
            <a:endParaRPr lang="" sz="1200" i="1" dirty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lvl="0">
              <a:buClr>
                <a:srgbClr val="999999"/>
              </a:buClr>
              <a:buFont typeface="Montserrat"/>
              <a:buChar char="●"/>
            </a:pPr>
            <a:endParaRPr lang="" sz="1200" i="1" dirty="0" smtClean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lvl="0">
              <a:buClr>
                <a:srgbClr val="999999"/>
              </a:buClr>
              <a:buFont typeface="Montserrat"/>
              <a:buChar char="●"/>
            </a:pPr>
            <a:endParaRPr lang="" sz="1200" i="1" dirty="0" smtClean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lvl="0">
              <a:buClr>
                <a:srgbClr val="999999"/>
              </a:buClr>
              <a:buFont typeface="Montserrat"/>
              <a:buChar char="●"/>
            </a:pPr>
            <a:endParaRPr lang="" sz="1200" i="1" dirty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lvl="0">
              <a:buClr>
                <a:srgbClr val="999999"/>
              </a:buClr>
              <a:buFont typeface="Montserrat"/>
              <a:buChar char="●"/>
            </a:pPr>
            <a:endParaRPr lang="" sz="1200" i="1" dirty="0" smtClean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lvl="0">
              <a:buClr>
                <a:srgbClr val="999999"/>
              </a:buClr>
              <a:buFont typeface="Montserrat"/>
              <a:buChar char="●"/>
            </a:pPr>
            <a:endParaRPr lang="" sz="1200" i="1" dirty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lvl="0">
              <a:buClr>
                <a:srgbClr val="999999"/>
              </a:buClr>
              <a:buFont typeface="Montserrat"/>
              <a:buChar char="●"/>
            </a:pPr>
            <a:endParaRPr lang="" sz="1200" i="1" dirty="0" smtClean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14300" indent="0">
              <a:buClr>
                <a:srgbClr val="999999"/>
              </a:buClr>
              <a:buNone/>
            </a:pPr>
            <a:r>
              <a:rPr lang="en-US" sz="1200" dirty="0" err="1">
                <a:solidFill>
                  <a:schemeClr val="tx1"/>
                </a:solidFill>
              </a:rPr>
              <a:t>Détection</a:t>
            </a:r>
            <a:r>
              <a:rPr lang="en-US" sz="1200" dirty="0">
                <a:solidFill>
                  <a:schemeClr val="tx1"/>
                </a:solidFill>
              </a:rPr>
              <a:t> Python : </a:t>
            </a:r>
            <a:r>
              <a:rPr lang="en-US" sz="1200" dirty="0">
                <a:solidFill>
                  <a:schemeClr val="accent1">
                    <a:lumMod val="75000"/>
                  </a:schemeClr>
                </a:solidFill>
                <a:sym typeface="Montserrat"/>
              </a:rPr>
              <a:t>liaison[liaison["</a:t>
            </a:r>
            <a:r>
              <a:rPr lang="en-US" sz="1200" dirty="0" err="1">
                <a:solidFill>
                  <a:schemeClr val="accent1">
                    <a:lumMod val="75000"/>
                  </a:schemeClr>
                </a:solidFill>
                <a:sym typeface="Montserrat"/>
              </a:rPr>
              <a:t>id_web</a:t>
            </a:r>
            <a:r>
              <a:rPr lang="en-US" sz="1200" dirty="0">
                <a:solidFill>
                  <a:schemeClr val="accent1">
                    <a:lumMod val="75000"/>
                  </a:schemeClr>
                </a:solidFill>
                <a:sym typeface="Montserrat"/>
              </a:rPr>
              <a:t>"].</a:t>
            </a:r>
            <a:r>
              <a:rPr lang="en-US" sz="1200" dirty="0" err="1">
                <a:solidFill>
                  <a:schemeClr val="accent1">
                    <a:lumMod val="75000"/>
                  </a:schemeClr>
                </a:solidFill>
                <a:sym typeface="Montserrat"/>
              </a:rPr>
              <a:t>isna</a:t>
            </a:r>
            <a:r>
              <a:rPr lang="en-US" sz="1200" dirty="0">
                <a:solidFill>
                  <a:schemeClr val="accent1">
                    <a:lumMod val="75000"/>
                  </a:schemeClr>
                </a:solidFill>
                <a:sym typeface="Montserrat"/>
              </a:rPr>
              <a:t>()]</a:t>
            </a:r>
            <a:endParaRPr lang="" sz="1200" dirty="0">
              <a:solidFill>
                <a:schemeClr val="accent1">
                  <a:lumMod val="75000"/>
                </a:schemeClr>
              </a:solidFill>
              <a:sym typeface="Montserrat"/>
            </a:endParaRPr>
          </a:p>
        </p:txBody>
      </p:sp>
      <p:sp>
        <p:nvSpPr>
          <p:cNvPr id="64" name="Google Shape;64;p4"/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highlight>
                <a:srgbClr val="B6D7A8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4"/>
          <p:cNvSpPr txBox="1"/>
          <p:nvPr/>
        </p:nvSpPr>
        <p:spPr>
          <a:xfrm>
            <a:off x="895525" y="337250"/>
            <a:ext cx="6932792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>
              <a:buSzPts val="2500"/>
            </a:pPr>
            <a:r>
              <a:rPr lang="en-US" sz="2500" dirty="0" err="1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0"/>
                  </a:ext>
                </a:extLst>
              </a:rPr>
              <a:t>Erreurs</a:t>
            </a:r>
            <a:r>
              <a:rPr lang="en-US" sz="2500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0"/>
                  </a:ext>
                </a:extLst>
              </a:rPr>
              <a:t> </a:t>
            </a:r>
            <a:r>
              <a:rPr lang="en-US" sz="2500" dirty="0" err="1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0"/>
                  </a:ext>
                </a:extLst>
              </a:rPr>
              <a:t>détectées</a:t>
            </a:r>
            <a:endParaRPr sz="2500" b="0" i="0" u="none" strike="noStrike" cap="none" dirty="0">
              <a:solidFill>
                <a:srgbClr val="F3F3F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6" name="Google Shape;66;p4"/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8348" y="2048019"/>
            <a:ext cx="1338469" cy="2816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32950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5"/>
          <p:cNvSpPr txBox="1">
            <a:spLocks noGrp="1"/>
          </p:cNvSpPr>
          <p:nvPr>
            <p:ph type="body" idx="1"/>
          </p:nvPr>
        </p:nvSpPr>
        <p:spPr>
          <a:xfrm>
            <a:off x="623400" y="146275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>
              <a:buClr>
                <a:srgbClr val="999999"/>
              </a:buClr>
              <a:buFont typeface="Montserrat"/>
              <a:buChar char="●"/>
            </a:pPr>
            <a:r>
              <a:rPr lang="en-US" sz="1200" b="1" dirty="0" err="1" smtClean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Clés</a:t>
            </a:r>
            <a:r>
              <a:rPr lang="en-US" sz="1200" b="1" dirty="0" smtClean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200" b="1" dirty="0" err="1" smtClean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utilisées</a:t>
            </a:r>
            <a:r>
              <a:rPr lang="en-US" sz="1200" b="1" dirty="0" smtClean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200" dirty="0" smtClean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- </a:t>
            </a:r>
            <a:r>
              <a:rPr lang="en-US" sz="1200" dirty="0" err="1" smtClean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web.sku</a:t>
            </a:r>
            <a:r>
              <a:rPr lang="en-US" sz="1200" dirty="0" smtClean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200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→ </a:t>
            </a:r>
            <a:r>
              <a:rPr lang="en-US" sz="1200" dirty="0" err="1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liaison.id</a:t>
            </a:r>
            <a:r>
              <a:rPr lang="en-US" sz="1200" dirty="0" err="1">
                <a:solidFill>
                  <a:schemeClr val="tx1"/>
                </a:solidFill>
                <a:latin typeface="+mj-lt"/>
                <a:ea typeface="Montserrat"/>
                <a:cs typeface="Montserrat"/>
                <a:sym typeface="Montserrat"/>
              </a:rPr>
              <a:t>_</a:t>
            </a:r>
            <a:r>
              <a:rPr lang="en-US" sz="1200" dirty="0" err="1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web</a:t>
            </a:r>
            <a:r>
              <a:rPr lang="en-US" sz="1200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 → </a:t>
            </a:r>
            <a:r>
              <a:rPr lang="en-US" sz="1200" dirty="0" err="1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liaison.product</a:t>
            </a:r>
            <a:r>
              <a:rPr lang="en-US" sz="1200" dirty="0" err="1">
                <a:solidFill>
                  <a:schemeClr val="tx1"/>
                </a:solidFill>
                <a:latin typeface="+mj-lt"/>
                <a:ea typeface="Montserrat"/>
                <a:cs typeface="Montserrat"/>
                <a:sym typeface="Montserrat"/>
              </a:rPr>
              <a:t>_</a:t>
            </a:r>
            <a:r>
              <a:rPr lang="en-US" sz="1200" dirty="0" err="1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id</a:t>
            </a:r>
            <a:r>
              <a:rPr lang="en-US" sz="1200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 → </a:t>
            </a:r>
            <a:r>
              <a:rPr lang="en-US" sz="1200" dirty="0" err="1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erp.product</a:t>
            </a:r>
            <a:r>
              <a:rPr lang="en-US" sz="1200" dirty="0" err="1">
                <a:solidFill>
                  <a:schemeClr val="tx1"/>
                </a:solidFill>
                <a:latin typeface="+mj-lt"/>
                <a:ea typeface="Montserrat"/>
                <a:cs typeface="Montserrat"/>
                <a:sym typeface="Montserrat"/>
              </a:rPr>
              <a:t>_</a:t>
            </a:r>
            <a:r>
              <a:rPr lang="en-US" sz="1200" dirty="0" err="1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id</a:t>
            </a:r>
            <a:endParaRPr sz="1200" dirty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lvl="0">
              <a:buClr>
                <a:srgbClr val="999999"/>
              </a:buClr>
              <a:buFont typeface="Montserrat"/>
              <a:buChar char="●"/>
            </a:pPr>
            <a:r>
              <a:rPr lang="en-US" sz="1200" b="1" dirty="0" err="1" smtClean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Méthode</a:t>
            </a:r>
            <a:r>
              <a:rPr lang="en-US" sz="1200" dirty="0" smtClean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:</a:t>
            </a:r>
          </a:p>
          <a:p>
            <a:pPr lvl="0">
              <a:buClr>
                <a:srgbClr val="999999"/>
              </a:buClr>
              <a:buFont typeface="Montserrat"/>
              <a:buChar char="●"/>
            </a:pPr>
            <a:endParaRPr lang="en-US" sz="1200" i="1" dirty="0" smtClean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lvl="0">
              <a:buClr>
                <a:srgbClr val="999999"/>
              </a:buClr>
              <a:buFont typeface="Montserrat"/>
              <a:buChar char="●"/>
            </a:pPr>
            <a:endParaRPr lang="en-US" sz="1200" i="1" dirty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lvl="0">
              <a:buClr>
                <a:srgbClr val="999999"/>
              </a:buClr>
              <a:buFont typeface="Montserrat"/>
              <a:buChar char="●"/>
            </a:pPr>
            <a:endParaRPr lang="en-US" sz="1200" i="1" dirty="0" smtClean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lvl="0">
              <a:buClr>
                <a:srgbClr val="999999"/>
              </a:buClr>
              <a:buFont typeface="Montserrat"/>
              <a:buChar char="●"/>
            </a:pPr>
            <a:endParaRPr lang="en-US" sz="1200" i="1" dirty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lvl="0">
              <a:buClr>
                <a:srgbClr val="999999"/>
              </a:buClr>
              <a:buFont typeface="Montserrat"/>
              <a:buChar char="●"/>
            </a:pPr>
            <a:endParaRPr lang="en-US" sz="1200" i="1" dirty="0" smtClean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lvl="0">
              <a:buClr>
                <a:srgbClr val="999999"/>
              </a:buClr>
              <a:buFont typeface="Montserrat"/>
              <a:buChar char="●"/>
            </a:pPr>
            <a:endParaRPr lang="en-US" sz="1200" i="1" dirty="0" smtClean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lvl="0">
              <a:buClr>
                <a:srgbClr val="999999"/>
              </a:buClr>
              <a:buFont typeface="Montserrat"/>
              <a:buChar char="●"/>
            </a:pPr>
            <a:r>
              <a:rPr lang="fr-FR" sz="1100" b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Choix du type de jointure </a:t>
            </a:r>
            <a:r>
              <a:rPr lang="fr-FR" sz="1100" i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: </a:t>
            </a:r>
            <a:r>
              <a:rPr lang="fr-FR" sz="1100" dirty="0" smtClean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INNER JOIN. Seuls les produits présents dans les 3 tables simultanément sont conservés. Les lignes sans correspondance sont inutilisables pour l'analyse (pas de prix, pas de ventes)</a:t>
            </a:r>
            <a:endParaRPr sz="1100" dirty="0" smtClean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lvl="0">
              <a:buClr>
                <a:srgbClr val="999999"/>
              </a:buClr>
              <a:buFont typeface="Montserrat"/>
              <a:buChar char="●"/>
            </a:pPr>
            <a:r>
              <a:rPr lang="fr-FR" sz="1200" b="1" dirty="0" smtClean="0">
                <a:solidFill>
                  <a:schemeClr val="tx1"/>
                </a:solidFill>
                <a:latin typeface="Montserrat" panose="020B0604020202020204" charset="0"/>
              </a:rPr>
              <a:t>Résultat</a:t>
            </a:r>
            <a:r>
              <a:rPr lang="fr-FR" sz="1200" dirty="0" smtClean="0">
                <a:solidFill>
                  <a:schemeClr val="tx1"/>
                </a:solidFill>
                <a:latin typeface="Montserrat" panose="020B0604020202020204" charset="0"/>
              </a:rPr>
              <a:t>: Avant fusion : 825 lignes ERP, 1513 lignes Web, 825 lignes Liaison. Après fusion et nettoyage : 710 produits exploitables</a:t>
            </a:r>
          </a:p>
          <a:p>
            <a:pPr lvl="0">
              <a:buClr>
                <a:srgbClr val="999999"/>
              </a:buClr>
              <a:buFont typeface="Montserrat"/>
              <a:buChar char="●"/>
            </a:pPr>
            <a:r>
              <a:rPr lang="fr-FR" sz="1200" b="1" dirty="0" smtClean="0">
                <a:solidFill>
                  <a:schemeClr val="tx1"/>
                </a:solidFill>
                <a:latin typeface="Montserrat" panose="020B0604020202020204" charset="0"/>
              </a:rPr>
              <a:t>Vigilances particulières</a:t>
            </a:r>
            <a:r>
              <a:rPr lang="fr-FR" sz="1200" dirty="0" smtClean="0">
                <a:solidFill>
                  <a:schemeClr val="tx1"/>
                </a:solidFill>
                <a:latin typeface="Montserrat" panose="020B0604020202020204" charset="0"/>
              </a:rPr>
              <a:t>: </a:t>
            </a:r>
          </a:p>
          <a:p>
            <a:pPr marL="114300" lvl="0" indent="0">
              <a:buClr>
                <a:srgbClr val="999999"/>
              </a:buClr>
              <a:buNone/>
            </a:pPr>
            <a:r>
              <a:rPr lang="fr-FR" sz="1200" dirty="0" smtClean="0">
                <a:solidFill>
                  <a:schemeClr val="tx1"/>
                </a:solidFill>
                <a:latin typeface="Montserrat" panose="020B0604020202020204" charset="0"/>
              </a:rPr>
              <a:t>- Les </a:t>
            </a:r>
            <a:r>
              <a:rPr lang="fr-FR" sz="1200" dirty="0">
                <a:solidFill>
                  <a:schemeClr val="tx1"/>
                </a:solidFill>
                <a:latin typeface="Montserrat" panose="020B0604020202020204" charset="0"/>
              </a:rPr>
              <a:t>images WordPress (</a:t>
            </a:r>
            <a:r>
              <a:rPr lang="fr-FR" sz="1200" dirty="0" err="1">
                <a:solidFill>
                  <a:schemeClr val="tx1"/>
                </a:solidFill>
                <a:latin typeface="Montserrat" panose="020B0604020202020204" charset="0"/>
              </a:rPr>
              <a:t>post</a:t>
            </a:r>
            <a:r>
              <a:rPr lang="fr-FR" sz="1200" dirty="0" err="1">
                <a:solidFill>
                  <a:schemeClr val="tx1"/>
                </a:solidFill>
                <a:latin typeface="+mj-lt"/>
              </a:rPr>
              <a:t>_</a:t>
            </a:r>
            <a:r>
              <a:rPr lang="fr-FR" sz="1200" dirty="0" err="1">
                <a:solidFill>
                  <a:schemeClr val="tx1"/>
                </a:solidFill>
                <a:latin typeface="Montserrat" panose="020B0604020202020204" charset="0"/>
              </a:rPr>
              <a:t>type</a:t>
            </a:r>
            <a:r>
              <a:rPr lang="fr-FR" sz="1200" dirty="0">
                <a:solidFill>
                  <a:schemeClr val="tx1"/>
                </a:solidFill>
                <a:latin typeface="Montserrat" panose="020B0604020202020204" charset="0"/>
              </a:rPr>
              <a:t> = </a:t>
            </a:r>
            <a:r>
              <a:rPr lang="fr-FR" sz="1200" dirty="0" smtClean="0">
                <a:solidFill>
                  <a:schemeClr val="tx1"/>
                </a:solidFill>
                <a:latin typeface="Montserrat" panose="020B0604020202020204" charset="0"/>
              </a:rPr>
              <a:t>« </a:t>
            </a:r>
            <a:r>
              <a:rPr lang="fr-FR" sz="1200" dirty="0" err="1" smtClean="0">
                <a:solidFill>
                  <a:schemeClr val="tx1"/>
                </a:solidFill>
                <a:latin typeface="Montserrat" panose="020B0604020202020204" charset="0"/>
              </a:rPr>
              <a:t>attachment</a:t>
            </a:r>
            <a:r>
              <a:rPr lang="fr-FR" sz="1200" dirty="0" smtClean="0">
                <a:solidFill>
                  <a:schemeClr val="tx1"/>
                </a:solidFill>
                <a:latin typeface="Montserrat" panose="020B0604020202020204" charset="0"/>
              </a:rPr>
              <a:t> ») </a:t>
            </a:r>
            <a:r>
              <a:rPr lang="fr-FR" sz="1200" dirty="0">
                <a:solidFill>
                  <a:schemeClr val="tx1"/>
                </a:solidFill>
                <a:latin typeface="Montserrat" panose="020B0604020202020204" charset="0"/>
              </a:rPr>
              <a:t>dupliquaient les SKU → </a:t>
            </a:r>
            <a:r>
              <a:rPr lang="fr-FR" sz="1200" dirty="0" smtClean="0">
                <a:solidFill>
                  <a:schemeClr val="tx1"/>
                </a:solidFill>
                <a:latin typeface="Montserrat" panose="020B0604020202020204" charset="0"/>
              </a:rPr>
              <a:t>filtrées.</a:t>
            </a:r>
          </a:p>
          <a:p>
            <a:pPr marL="114300" lvl="0" indent="0">
              <a:buClr>
                <a:srgbClr val="999999"/>
              </a:buClr>
              <a:buNone/>
            </a:pPr>
            <a:r>
              <a:rPr lang="fr-FR" sz="1200" dirty="0" smtClean="0">
                <a:solidFill>
                  <a:schemeClr val="tx1"/>
                </a:solidFill>
                <a:latin typeface="Montserrat" panose="020B0604020202020204" charset="0"/>
              </a:rPr>
              <a:t>- Les </a:t>
            </a:r>
            <a:r>
              <a:rPr lang="fr-FR" sz="1200" dirty="0">
                <a:solidFill>
                  <a:schemeClr val="tx1"/>
                </a:solidFill>
                <a:latin typeface="Montserrat" panose="020B0604020202020204" charset="0"/>
              </a:rPr>
              <a:t>bons cadeaux (bon-cadeau-25-euros) exclus car entité non-produit</a:t>
            </a:r>
            <a:endParaRPr sz="1200" dirty="0">
              <a:solidFill>
                <a:schemeClr val="tx1"/>
              </a:solidFill>
              <a:latin typeface="Montserrat" panose="020B0604020202020204" charset="0"/>
            </a:endParaRPr>
          </a:p>
          <a:p>
            <a:pPr marL="1143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</a:pPr>
            <a:endParaRPr dirty="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2" name="Google Shape;72;p5"/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5"/>
          <p:cNvSpPr txBox="1"/>
          <p:nvPr/>
        </p:nvSpPr>
        <p:spPr>
          <a:xfrm>
            <a:off x="895525" y="3372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b="0" i="0" u="none" strike="noStrike" cap="none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Fusion ou consolidations des données</a:t>
            </a:r>
            <a:endParaRPr sz="2500" b="0" i="0" u="none" strike="noStrike" cap="none">
              <a:solidFill>
                <a:srgbClr val="F3F3F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4" name="Google Shape;74;p5"/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175" y="1976483"/>
            <a:ext cx="6797629" cy="12726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6"/>
          <p:cNvSpPr txBox="1">
            <a:spLocks noGrp="1"/>
          </p:cNvSpPr>
          <p:nvPr>
            <p:ph type="body" idx="1"/>
          </p:nvPr>
        </p:nvSpPr>
        <p:spPr>
          <a:xfrm>
            <a:off x="557279" y="1528607"/>
            <a:ext cx="4664078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14300" lvl="0" indent="0">
              <a:buClr>
                <a:srgbClr val="999999"/>
              </a:buClr>
              <a:buNone/>
            </a:pPr>
            <a:r>
              <a:rPr lang="fr-FR" sz="1400" b="1" dirty="0" smtClean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Bilan</a:t>
            </a:r>
            <a:r>
              <a:rPr lang="en-US" sz="1400" smtClean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: </a:t>
            </a:r>
          </a:p>
          <a:p>
            <a:pPr>
              <a:buClr>
                <a:srgbClr val="999999"/>
              </a:buClr>
            </a:pPr>
            <a:r>
              <a:rPr lang="fr-FR" sz="1400" smtClean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8 </a:t>
            </a:r>
            <a:r>
              <a:rPr lang="fr-FR" sz="1400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erreurs identifiées réparties sur 3 </a:t>
            </a:r>
            <a:r>
              <a:rPr lang="fr-FR" sz="140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fichiers </a:t>
            </a:r>
            <a:r>
              <a:rPr lang="fr-FR" sz="1400" smtClean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sources</a:t>
            </a:r>
          </a:p>
          <a:p>
            <a:pPr>
              <a:buClr>
                <a:srgbClr val="999999"/>
              </a:buClr>
            </a:pPr>
            <a:r>
              <a:rPr lang="fr-FR" sz="1400" dirty="0" smtClean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ERP </a:t>
            </a:r>
            <a:r>
              <a:rPr lang="fr-FR" sz="1400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: 4 erreurs (prix négatifs, stocks négatifs, vente à perte, incohérence </a:t>
            </a:r>
            <a:r>
              <a:rPr lang="fr-FR" sz="1400" dirty="0" err="1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stock</a:t>
            </a:r>
            <a:r>
              <a:rPr lang="fr-FR" sz="1400" dirty="0" err="1">
                <a:solidFill>
                  <a:schemeClr val="tx1"/>
                </a:solidFill>
                <a:latin typeface="+mj-lt"/>
                <a:ea typeface="Montserrat"/>
                <a:cs typeface="Montserrat"/>
                <a:sym typeface="Montserrat"/>
              </a:rPr>
              <a:t>_</a:t>
            </a:r>
            <a:r>
              <a:rPr lang="fr-FR" sz="1400" dirty="0" err="1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status</a:t>
            </a:r>
            <a:r>
              <a:rPr lang="fr-FR" sz="1400" dirty="0" smtClean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)</a:t>
            </a:r>
          </a:p>
          <a:p>
            <a:pPr>
              <a:buClr>
                <a:srgbClr val="999999"/>
              </a:buClr>
            </a:pPr>
            <a:r>
              <a:rPr lang="fr-FR" sz="1400" dirty="0" smtClean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Web </a:t>
            </a:r>
            <a:r>
              <a:rPr lang="fr-FR" sz="1400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: 3 erreurs (SKU manquants, </a:t>
            </a:r>
            <a:r>
              <a:rPr lang="fr-FR" sz="1400" dirty="0" err="1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total</a:t>
            </a:r>
            <a:r>
              <a:rPr lang="fr-FR" sz="1400" dirty="0" err="1">
                <a:solidFill>
                  <a:schemeClr val="tx1"/>
                </a:solidFill>
                <a:latin typeface="+mj-lt"/>
                <a:ea typeface="Montserrat"/>
                <a:cs typeface="Montserrat"/>
                <a:sym typeface="Montserrat"/>
              </a:rPr>
              <a:t>_</a:t>
            </a:r>
            <a:r>
              <a:rPr lang="fr-FR" sz="1400" dirty="0" err="1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sales</a:t>
            </a:r>
            <a:r>
              <a:rPr lang="fr-FR" sz="1400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 négatifs, colonnes vides</a:t>
            </a:r>
            <a:r>
              <a:rPr lang="fr-FR" sz="1400" dirty="0" smtClean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)</a:t>
            </a:r>
          </a:p>
          <a:p>
            <a:pPr>
              <a:buClr>
                <a:srgbClr val="999999"/>
              </a:buClr>
            </a:pPr>
            <a:r>
              <a:rPr lang="fr-FR" sz="1400" dirty="0" smtClean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Liaison </a:t>
            </a:r>
            <a:r>
              <a:rPr lang="fr-FR" sz="1400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: 1 erreur (</a:t>
            </a:r>
            <a:r>
              <a:rPr lang="fr-FR" sz="1400" dirty="0" err="1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id</a:t>
            </a:r>
            <a:r>
              <a:rPr lang="fr-FR" sz="1400" dirty="0" err="1">
                <a:solidFill>
                  <a:schemeClr val="tx1"/>
                </a:solidFill>
                <a:latin typeface="+mj-lt"/>
                <a:ea typeface="Montserrat"/>
                <a:cs typeface="Montserrat"/>
                <a:sym typeface="Montserrat"/>
              </a:rPr>
              <a:t>_</a:t>
            </a:r>
            <a:r>
              <a:rPr lang="fr-FR" sz="1400" dirty="0" err="1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web</a:t>
            </a:r>
            <a:r>
              <a:rPr lang="fr-FR" sz="1400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 manquants</a:t>
            </a:r>
            <a:r>
              <a:rPr lang="fr-FR" sz="1400" dirty="0" smtClean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)</a:t>
            </a:r>
          </a:p>
          <a:p>
            <a:pPr marL="114300" lvl="0" indent="0">
              <a:buClr>
                <a:srgbClr val="999999"/>
              </a:buClr>
              <a:buNone/>
            </a:pPr>
            <a:r>
              <a:rPr lang="fr-FR" sz="1400" b="1" dirty="0" smtClean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Table </a:t>
            </a:r>
            <a:r>
              <a:rPr lang="fr-FR" sz="1400" b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d'erreurs générée automatiquement par le script Python </a:t>
            </a:r>
            <a:r>
              <a:rPr lang="fr-FR" sz="1400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— disponible dans </a:t>
            </a:r>
            <a:r>
              <a:rPr lang="fr-FR" sz="1400" dirty="0">
                <a:solidFill>
                  <a:schemeClr val="accent1">
                    <a:lumMod val="75000"/>
                  </a:schemeClr>
                </a:solidFill>
                <a:latin typeface="Montserrat"/>
                <a:ea typeface="Montserrat"/>
                <a:cs typeface="Montserrat"/>
                <a:sym typeface="Montserrat"/>
              </a:rPr>
              <a:t>erreurs.xlsx</a:t>
            </a:r>
            <a:r>
              <a:rPr lang="fr-FR" sz="1400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 pour investigation ultérieure.</a:t>
            </a:r>
            <a:endParaRPr sz="1400" dirty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0" name="Google Shape;80;p6"/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6"/>
          <p:cNvSpPr txBox="1"/>
          <p:nvPr/>
        </p:nvSpPr>
        <p:spPr>
          <a:xfrm>
            <a:off x="895525" y="351447"/>
            <a:ext cx="7069032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>
              <a:buSzPts val="2500"/>
            </a:pPr>
            <a:r>
              <a:rPr lang="en-US" sz="2500" dirty="0" err="1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Récapitulatif</a:t>
            </a:r>
            <a:r>
              <a:rPr lang="en-US" sz="2500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 des </a:t>
            </a:r>
            <a:r>
              <a:rPr lang="en-US" sz="2500" dirty="0" err="1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erreurs</a:t>
            </a:r>
            <a:r>
              <a:rPr lang="en-US" sz="2500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500" dirty="0" err="1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détectées</a:t>
            </a:r>
            <a:endParaRPr sz="2500" b="0" i="0" u="none" strike="noStrike" cap="none" dirty="0">
              <a:solidFill>
                <a:srgbClr val="F3F3F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2" name="Google Shape;82;p6"/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1357" y="2683565"/>
            <a:ext cx="3665379" cy="170953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68960" y="1709722"/>
            <a:ext cx="3570173" cy="79272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6"/>
          <p:cNvSpPr txBox="1">
            <a:spLocks noGrp="1"/>
          </p:cNvSpPr>
          <p:nvPr>
            <p:ph type="body" idx="1"/>
          </p:nvPr>
        </p:nvSpPr>
        <p:spPr>
          <a:xfrm>
            <a:off x="557279" y="1528607"/>
            <a:ext cx="6709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/>
          <a:p>
            <a:pPr lvl="0">
              <a:buClr>
                <a:srgbClr val="999999"/>
              </a:buClr>
              <a:buFont typeface="Montserrat"/>
              <a:buChar char="●"/>
            </a:pPr>
            <a:r>
              <a:rPr lang="fr-FR" b="1" i="1" dirty="0" smtClean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ERP</a:t>
            </a:r>
            <a:r>
              <a:rPr lang="fr-FR" i="1" dirty="0" smtClean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: Ajouter </a:t>
            </a:r>
            <a:r>
              <a:rPr lang="fr-FR" i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des contraintes de validation : </a:t>
            </a:r>
            <a:endParaRPr lang="fr-FR" i="1" dirty="0" smtClean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lvl="1">
              <a:buClr>
                <a:srgbClr val="999999"/>
              </a:buClr>
              <a:buFont typeface="Wingdings" panose="05000000000000000000" pitchFamily="2" charset="2"/>
              <a:buChar char="Ø"/>
            </a:pPr>
            <a:r>
              <a:rPr lang="fr-FR" i="1" dirty="0" smtClean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prix </a:t>
            </a:r>
            <a:r>
              <a:rPr lang="fr-FR" i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et quantités ne peuvent pas être </a:t>
            </a:r>
            <a:r>
              <a:rPr lang="fr-FR" i="1" dirty="0" smtClean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négatifs. </a:t>
            </a:r>
          </a:p>
          <a:p>
            <a:pPr lvl="1">
              <a:buClr>
                <a:srgbClr val="999999"/>
              </a:buClr>
              <a:buFont typeface="Wingdings" panose="05000000000000000000" pitchFamily="2" charset="2"/>
              <a:buChar char="Ø"/>
            </a:pPr>
            <a:r>
              <a:rPr lang="fr-FR" i="1" dirty="0" smtClean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Synchroniser </a:t>
            </a:r>
            <a:r>
              <a:rPr lang="fr-FR" i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automatiquement </a:t>
            </a:r>
            <a:r>
              <a:rPr lang="fr-FR" i="1" dirty="0" err="1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stock</a:t>
            </a:r>
            <a:r>
              <a:rPr lang="fr-FR" i="1" dirty="0" err="1">
                <a:solidFill>
                  <a:schemeClr val="tx1"/>
                </a:solidFill>
                <a:latin typeface="+mj-lt"/>
                <a:ea typeface="Montserrat"/>
                <a:cs typeface="Montserrat"/>
                <a:sym typeface="Montserrat"/>
              </a:rPr>
              <a:t>_</a:t>
            </a:r>
            <a:r>
              <a:rPr lang="fr-FR" i="1" dirty="0" err="1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status</a:t>
            </a:r>
            <a:r>
              <a:rPr lang="fr-FR" i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 avec </a:t>
            </a:r>
            <a:r>
              <a:rPr lang="fr-FR" i="1" dirty="0" err="1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stock</a:t>
            </a:r>
            <a:r>
              <a:rPr lang="fr-FR" i="1" dirty="0" err="1">
                <a:solidFill>
                  <a:schemeClr val="tx1"/>
                </a:solidFill>
                <a:latin typeface="+mj-lt"/>
                <a:ea typeface="Montserrat"/>
                <a:cs typeface="Montserrat"/>
                <a:sym typeface="Montserrat"/>
              </a:rPr>
              <a:t>_</a:t>
            </a:r>
            <a:r>
              <a:rPr lang="fr-FR" i="1" dirty="0" err="1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quantity</a:t>
            </a:r>
            <a:r>
              <a:rPr lang="fr-FR" i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 — ne pas saisir </a:t>
            </a:r>
            <a:r>
              <a:rPr lang="fr-FR" i="1" dirty="0" smtClean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manuellement. </a:t>
            </a:r>
          </a:p>
          <a:p>
            <a:pPr lvl="0">
              <a:buClr>
                <a:srgbClr val="999999"/>
              </a:buClr>
              <a:buFont typeface="Montserrat"/>
              <a:buChar char="●"/>
            </a:pPr>
            <a:r>
              <a:rPr lang="fr-FR" b="1" i="1" dirty="0" smtClean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WordPress </a:t>
            </a:r>
            <a:r>
              <a:rPr lang="fr-FR" b="1" i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/ </a:t>
            </a:r>
            <a:r>
              <a:rPr lang="fr-FR" b="1" i="1" dirty="0" smtClean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Web</a:t>
            </a:r>
            <a:r>
              <a:rPr lang="fr-FR" i="1" dirty="0" smtClean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: </a:t>
            </a:r>
          </a:p>
          <a:p>
            <a:pPr lvl="1">
              <a:buClr>
                <a:srgbClr val="999999"/>
              </a:buClr>
              <a:buFont typeface="Wingdings" panose="05000000000000000000" pitchFamily="2" charset="2"/>
              <a:buChar char="Ø"/>
            </a:pPr>
            <a:r>
              <a:rPr lang="fr-FR" i="1" dirty="0" smtClean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Vérifier </a:t>
            </a:r>
            <a:r>
              <a:rPr lang="fr-FR" i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pourquoi les colonnes </a:t>
            </a:r>
            <a:r>
              <a:rPr lang="fr-FR" i="1" dirty="0" err="1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virtual</a:t>
            </a:r>
            <a:r>
              <a:rPr lang="fr-FR" i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, </a:t>
            </a:r>
            <a:r>
              <a:rPr lang="fr-FR" i="1" dirty="0" err="1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downloadable</a:t>
            </a:r>
            <a:r>
              <a:rPr lang="fr-FR" i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, </a:t>
            </a:r>
            <a:r>
              <a:rPr lang="fr-FR" i="1" dirty="0" err="1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tax</a:t>
            </a:r>
            <a:r>
              <a:rPr lang="fr-FR" i="1" dirty="0" err="1">
                <a:solidFill>
                  <a:schemeClr val="tx1"/>
                </a:solidFill>
                <a:latin typeface="+mj-lt"/>
                <a:ea typeface="Montserrat"/>
                <a:cs typeface="Montserrat"/>
                <a:sym typeface="Montserrat"/>
              </a:rPr>
              <a:t>_</a:t>
            </a:r>
            <a:r>
              <a:rPr lang="fr-FR" i="1" dirty="0" err="1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class</a:t>
            </a:r>
            <a:r>
              <a:rPr lang="fr-FR" i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, </a:t>
            </a:r>
            <a:r>
              <a:rPr lang="fr-FR" i="1" dirty="0" err="1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post</a:t>
            </a:r>
            <a:r>
              <a:rPr lang="fr-FR" i="1" dirty="0" err="1">
                <a:solidFill>
                  <a:schemeClr val="tx1"/>
                </a:solidFill>
                <a:latin typeface="+mj-lt"/>
                <a:ea typeface="Montserrat"/>
                <a:cs typeface="Montserrat"/>
                <a:sym typeface="Montserrat"/>
              </a:rPr>
              <a:t>_</a:t>
            </a:r>
            <a:r>
              <a:rPr lang="fr-FR" i="1" dirty="0" err="1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content</a:t>
            </a:r>
            <a:r>
              <a:rPr lang="fr-FR" i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, </a:t>
            </a:r>
            <a:r>
              <a:rPr lang="fr-FR" i="1" dirty="0" err="1" smtClean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post</a:t>
            </a:r>
            <a:r>
              <a:rPr lang="fr-FR" i="1" dirty="0" err="1" smtClean="0">
                <a:solidFill>
                  <a:schemeClr val="tx1"/>
                </a:solidFill>
                <a:latin typeface="+mj-lt"/>
                <a:ea typeface="Montserrat"/>
                <a:cs typeface="Montserrat"/>
                <a:sym typeface="Montserrat"/>
              </a:rPr>
              <a:t>_</a:t>
            </a:r>
            <a:r>
              <a:rPr lang="fr-FR" i="1" dirty="0" err="1" smtClean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content</a:t>
            </a:r>
            <a:r>
              <a:rPr lang="fr-FR" i="1" dirty="0" err="1" smtClean="0">
                <a:solidFill>
                  <a:schemeClr val="tx1"/>
                </a:solidFill>
                <a:latin typeface="+mj-lt"/>
                <a:ea typeface="Montserrat"/>
                <a:cs typeface="Montserrat"/>
                <a:sym typeface="Montserrat"/>
              </a:rPr>
              <a:t>_</a:t>
            </a:r>
            <a:r>
              <a:rPr lang="fr-FR" i="1" dirty="0" err="1" smtClean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filtered</a:t>
            </a:r>
            <a:r>
              <a:rPr lang="fr-FR" i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, </a:t>
            </a:r>
            <a:r>
              <a:rPr lang="fr-FR" i="1" dirty="0" err="1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post</a:t>
            </a:r>
            <a:r>
              <a:rPr lang="fr-FR" i="1" dirty="0" err="1">
                <a:solidFill>
                  <a:schemeClr val="tx1"/>
                </a:solidFill>
                <a:latin typeface="+mj-lt"/>
                <a:ea typeface="Montserrat"/>
                <a:cs typeface="Montserrat"/>
                <a:sym typeface="Montserrat"/>
              </a:rPr>
              <a:t>_</a:t>
            </a:r>
            <a:r>
              <a:rPr lang="fr-FR" i="1" dirty="0" err="1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parent</a:t>
            </a:r>
            <a:r>
              <a:rPr lang="fr-FR" i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, </a:t>
            </a:r>
            <a:r>
              <a:rPr lang="fr-FR" i="1" dirty="0" err="1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menu</a:t>
            </a:r>
            <a:r>
              <a:rPr lang="fr-FR" i="1" dirty="0" err="1">
                <a:solidFill>
                  <a:schemeClr val="tx1"/>
                </a:solidFill>
                <a:latin typeface="+mj-lt"/>
                <a:ea typeface="Montserrat"/>
                <a:cs typeface="Montserrat"/>
                <a:sym typeface="Montserrat"/>
              </a:rPr>
              <a:t>_</a:t>
            </a:r>
            <a:r>
              <a:rPr lang="fr-FR" i="1" dirty="0" err="1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order</a:t>
            </a:r>
            <a:r>
              <a:rPr lang="fr-FR" i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, </a:t>
            </a:r>
            <a:r>
              <a:rPr lang="fr-FR" i="1" dirty="0" err="1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comment</a:t>
            </a:r>
            <a:r>
              <a:rPr lang="fr-FR" i="1" dirty="0" err="1">
                <a:solidFill>
                  <a:schemeClr val="tx1"/>
                </a:solidFill>
                <a:latin typeface="+mj-lt"/>
                <a:ea typeface="Montserrat"/>
                <a:cs typeface="Montserrat"/>
                <a:sym typeface="Montserrat"/>
              </a:rPr>
              <a:t>_</a:t>
            </a:r>
            <a:r>
              <a:rPr lang="fr-FR" i="1" dirty="0" err="1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count</a:t>
            </a:r>
            <a:r>
              <a:rPr lang="fr-FR" i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 ne sont jamais renseignées — bug d'export ou champs inutilisés </a:t>
            </a:r>
            <a:r>
              <a:rPr lang="fr-FR" i="1" dirty="0" smtClean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? </a:t>
            </a:r>
          </a:p>
          <a:p>
            <a:pPr lvl="1">
              <a:buClr>
                <a:srgbClr val="999999"/>
              </a:buClr>
              <a:buFont typeface="Wingdings" panose="05000000000000000000" pitchFamily="2" charset="2"/>
              <a:buChar char="Ø"/>
            </a:pPr>
            <a:r>
              <a:rPr lang="fr-FR" i="1" dirty="0" smtClean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Séparer </a:t>
            </a:r>
            <a:r>
              <a:rPr lang="fr-FR" i="1" u="sng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les bons cadeaux</a:t>
            </a:r>
            <a:r>
              <a:rPr lang="fr-FR" i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 des produits dans la base de données — ce sont des entités </a:t>
            </a:r>
            <a:r>
              <a:rPr lang="fr-FR" i="1" dirty="0" smtClean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différentes</a:t>
            </a:r>
          </a:p>
          <a:p>
            <a:pPr lvl="0">
              <a:buClr>
                <a:srgbClr val="999999"/>
              </a:buClr>
              <a:buFont typeface="Montserrat"/>
              <a:buChar char="●"/>
            </a:pPr>
            <a:r>
              <a:rPr lang="fr-FR" b="1" i="1" dirty="0" smtClean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Table </a:t>
            </a:r>
            <a:r>
              <a:rPr lang="fr-FR" b="1" i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de </a:t>
            </a:r>
            <a:r>
              <a:rPr lang="fr-FR" b="1" i="1" dirty="0" smtClean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liaison</a:t>
            </a:r>
            <a:r>
              <a:rPr lang="fr-FR" i="1" dirty="0" smtClean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: </a:t>
            </a:r>
          </a:p>
          <a:p>
            <a:pPr lvl="1">
              <a:buClr>
                <a:srgbClr val="999999"/>
              </a:buClr>
              <a:buFont typeface="Wingdings" panose="05000000000000000000" pitchFamily="2" charset="2"/>
              <a:buChar char="Ø"/>
            </a:pPr>
            <a:r>
              <a:rPr lang="fr-FR" i="1" dirty="0" smtClean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Mettre </a:t>
            </a:r>
            <a:r>
              <a:rPr lang="fr-FR" i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à jour systématiquement la table de liaison à chaque ajout de produit — 91 lignes sans </a:t>
            </a:r>
            <a:r>
              <a:rPr lang="fr-FR" i="1" dirty="0" err="1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id</a:t>
            </a:r>
            <a:r>
              <a:rPr lang="fr-FR" i="1" dirty="0" err="1">
                <a:solidFill>
                  <a:schemeClr val="tx1"/>
                </a:solidFill>
                <a:latin typeface="+mj-lt"/>
                <a:ea typeface="Montserrat"/>
                <a:cs typeface="Montserrat"/>
                <a:sym typeface="Montserrat"/>
              </a:rPr>
              <a:t>_</a:t>
            </a:r>
            <a:r>
              <a:rPr lang="fr-FR" i="1" dirty="0" err="1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web</a:t>
            </a:r>
            <a:r>
              <a:rPr lang="fr-FR" i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 indiquent un processus manuel non </a:t>
            </a:r>
            <a:r>
              <a:rPr lang="fr-FR" i="1" dirty="0" smtClean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fiable</a:t>
            </a:r>
          </a:p>
          <a:p>
            <a:pPr lvl="0">
              <a:buClr>
                <a:srgbClr val="999999"/>
              </a:buClr>
              <a:buFont typeface="Montserrat"/>
              <a:buChar char="●"/>
            </a:pPr>
            <a:r>
              <a:rPr lang="fr-FR" b="1" i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Général: </a:t>
            </a:r>
            <a:endParaRPr lang="fr-FR" b="1" i="1" dirty="0" smtClean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lvl="1">
              <a:buClr>
                <a:srgbClr val="999999"/>
              </a:buClr>
              <a:buFont typeface="Wingdings" panose="05000000000000000000" pitchFamily="2" charset="2"/>
              <a:buChar char="Ø"/>
            </a:pPr>
            <a:r>
              <a:rPr lang="fr-FR" i="1" dirty="0" smtClean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Mettre </a:t>
            </a:r>
            <a:r>
              <a:rPr lang="fr-FR" i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en place un processus de validation des données à l'import — détecter les erreurs à la source plutôt qu'en </a:t>
            </a:r>
            <a:r>
              <a:rPr lang="fr-FR" i="1" dirty="0" smtClean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aval</a:t>
            </a:r>
          </a:p>
          <a:p>
            <a:pPr lvl="1">
              <a:buClr>
                <a:srgbClr val="999999"/>
              </a:buClr>
              <a:buFont typeface="Wingdings" panose="05000000000000000000" pitchFamily="2" charset="2"/>
              <a:buChar char="Ø"/>
            </a:pPr>
            <a:r>
              <a:rPr lang="fr-FR" i="1" dirty="0" smtClean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Migrer </a:t>
            </a:r>
            <a:r>
              <a:rPr lang="fr-FR" i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vers une base de données </a:t>
            </a:r>
            <a:r>
              <a:rPr lang="fr-FR" b="1" i="1" dirty="0">
                <a:solidFill>
                  <a:schemeClr val="accent1">
                    <a:lumMod val="75000"/>
                  </a:schemeClr>
                </a:solidFill>
                <a:latin typeface="Montserrat"/>
                <a:ea typeface="Montserrat"/>
                <a:cs typeface="Montserrat"/>
                <a:sym typeface="Montserrat"/>
              </a:rPr>
              <a:t>PostgreSQL</a:t>
            </a:r>
            <a:r>
              <a:rPr lang="fr-FR" i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 comme source unique de vérité — connecter directement l'ERP et WordPress à cette base, éliminer les exports Excel manuels et les risques d'incohérence entre systèmes</a:t>
            </a:r>
            <a:endParaRPr i="1" dirty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0" name="Google Shape;80;p6"/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6"/>
          <p:cNvSpPr txBox="1"/>
          <p:nvPr/>
        </p:nvSpPr>
        <p:spPr>
          <a:xfrm>
            <a:off x="895525" y="337250"/>
            <a:ext cx="6843745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>
              <a:buSzPts val="2500"/>
            </a:pPr>
            <a:r>
              <a:rPr lang="en-US" sz="250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Recommandations</a:t>
            </a:r>
            <a:endParaRPr sz="2500" b="0" i="0" u="none" strike="noStrike" cap="none" dirty="0">
              <a:solidFill>
                <a:srgbClr val="F3F3F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2" name="Google Shape;82;p6"/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869167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6"/>
          <p:cNvSpPr txBox="1">
            <a:spLocks noGrp="1"/>
          </p:cNvSpPr>
          <p:nvPr>
            <p:ph type="body" idx="1"/>
          </p:nvPr>
        </p:nvSpPr>
        <p:spPr>
          <a:xfrm>
            <a:off x="557279" y="1528607"/>
            <a:ext cx="6709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lvl="0">
              <a:buClr>
                <a:srgbClr val="999999"/>
              </a:buClr>
              <a:buFont typeface="Montserrat"/>
              <a:buChar char="●"/>
            </a:pPr>
            <a:r>
              <a:rPr lang="fr-FR" b="1" i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Objectif</a:t>
            </a:r>
            <a:r>
              <a:rPr lang="fr-FR" i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 : fournir au CODIR des indicateurs clés pour la prise de </a:t>
            </a:r>
            <a:r>
              <a:rPr lang="fr-FR" i="1" dirty="0" smtClean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décision</a:t>
            </a:r>
            <a:endParaRPr lang="" i="1" dirty="0" smtClean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lvl="0">
              <a:buClr>
                <a:srgbClr val="999999"/>
              </a:buClr>
              <a:buFont typeface="Montserrat"/>
              <a:buChar char="●"/>
            </a:pPr>
            <a:r>
              <a:rPr lang="fr-FR" b="1" i="1" dirty="0" smtClean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Analyses </a:t>
            </a:r>
            <a:r>
              <a:rPr lang="fr-FR" b="1" i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réalisées </a:t>
            </a:r>
            <a:r>
              <a:rPr lang="fr-FR" i="1" dirty="0" smtClean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:</a:t>
            </a:r>
            <a:endParaRPr lang="" i="1" dirty="0" smtClean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lvl="1">
              <a:buClr>
                <a:srgbClr val="999999"/>
              </a:buClr>
              <a:buFont typeface="Wingdings" panose="05000000000000000000" pitchFamily="2" charset="2"/>
              <a:buChar char="Ø"/>
            </a:pPr>
            <a:r>
              <a:rPr lang="fr-FR" i="1" dirty="0" smtClean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Chiffre </a:t>
            </a:r>
            <a:r>
              <a:rPr lang="fr-FR" i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d'affaires par produit et total </a:t>
            </a:r>
            <a:r>
              <a:rPr lang="fr-FR" i="1" dirty="0" smtClean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général</a:t>
            </a:r>
            <a:endParaRPr lang="" i="1" dirty="0" smtClean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lvl="1">
              <a:buClr>
                <a:srgbClr val="999999"/>
              </a:buClr>
              <a:buFont typeface="Wingdings" panose="05000000000000000000" pitchFamily="2" charset="2"/>
              <a:buChar char="Ø"/>
            </a:pPr>
            <a:r>
              <a:rPr lang="fr-FR" i="1" dirty="0" smtClean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Top </a:t>
            </a:r>
            <a:r>
              <a:rPr lang="fr-FR" i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références et règle des </a:t>
            </a:r>
            <a:r>
              <a:rPr lang="fr-FR" i="1" dirty="0" smtClean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20/80</a:t>
            </a:r>
            <a:endParaRPr lang="" i="1" dirty="0" smtClean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lvl="1">
              <a:buClr>
                <a:srgbClr val="999999"/>
              </a:buClr>
              <a:buFont typeface="Wingdings" panose="05000000000000000000" pitchFamily="2" charset="2"/>
              <a:buChar char="Ø"/>
            </a:pPr>
            <a:r>
              <a:rPr lang="fr-FR" i="1" dirty="0" smtClean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Détection </a:t>
            </a:r>
            <a:r>
              <a:rPr lang="fr-FR" i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des valeurs aberrantes dans les prix (Z-score + </a:t>
            </a:r>
            <a:r>
              <a:rPr lang="fr-FR" i="1" dirty="0" err="1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boxplot</a:t>
            </a:r>
            <a:r>
              <a:rPr lang="fr-FR" i="1" dirty="0" smtClean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)</a:t>
            </a:r>
            <a:endParaRPr lang="" i="1" dirty="0" smtClean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lvl="1">
              <a:buClr>
                <a:srgbClr val="999999"/>
              </a:buClr>
              <a:buFont typeface="Wingdings" panose="05000000000000000000" pitchFamily="2" charset="2"/>
              <a:buChar char="Ø"/>
            </a:pPr>
            <a:r>
              <a:rPr lang="fr-FR" i="1" dirty="0" smtClean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Taux </a:t>
            </a:r>
            <a:r>
              <a:rPr lang="fr-FR" i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de marge par </a:t>
            </a:r>
            <a:r>
              <a:rPr lang="fr-FR" i="1" dirty="0" smtClean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produit</a:t>
            </a:r>
            <a:endParaRPr lang="" i="1" dirty="0" smtClean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lvl="1">
              <a:buClr>
                <a:srgbClr val="999999"/>
              </a:buClr>
              <a:buFont typeface="Wingdings" panose="05000000000000000000" pitchFamily="2" charset="2"/>
              <a:buChar char="Ø"/>
            </a:pPr>
            <a:r>
              <a:rPr lang="fr-FR" i="1" dirty="0" smtClean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Nombre </a:t>
            </a:r>
            <a:r>
              <a:rPr lang="fr-FR" i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de mois de </a:t>
            </a:r>
            <a:r>
              <a:rPr lang="fr-FR" i="1" dirty="0" smtClean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stock</a:t>
            </a:r>
            <a:endParaRPr lang="" i="1" dirty="0" smtClean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lvl="1">
              <a:buClr>
                <a:srgbClr val="999999"/>
              </a:buClr>
              <a:buFont typeface="Wingdings" panose="05000000000000000000" pitchFamily="2" charset="2"/>
              <a:buChar char="Ø"/>
            </a:pPr>
            <a:r>
              <a:rPr lang="fr-FR" i="1" dirty="0" smtClean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Matrice </a:t>
            </a:r>
            <a:r>
              <a:rPr lang="fr-FR" i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de corrélations entre indicateurs </a:t>
            </a:r>
            <a:r>
              <a:rPr lang="fr-FR" i="1" dirty="0" smtClean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clés</a:t>
            </a:r>
            <a:endParaRPr lang="" i="1" dirty="0" smtClean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lvl="0">
              <a:buClr>
                <a:srgbClr val="999999"/>
              </a:buClr>
              <a:buFont typeface="Montserrat"/>
              <a:buChar char="●"/>
            </a:pPr>
            <a:r>
              <a:rPr lang="fr-FR" b="1" i="1" dirty="0" err="1" smtClean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Dataset</a:t>
            </a:r>
            <a:r>
              <a:rPr lang="fr-FR" b="1" i="1" dirty="0" smtClean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fr-FR" b="1" i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utilisé </a:t>
            </a:r>
            <a:r>
              <a:rPr lang="fr-FR" i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: 710 produits après nettoyage et fusion des 3 sources</a:t>
            </a:r>
            <a:r>
              <a:rPr lang="fr" i="1" dirty="0" smtClean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Méthodes </a:t>
            </a:r>
            <a:r>
              <a:rPr lang="fr" i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statistiques </a:t>
            </a:r>
            <a:r>
              <a:rPr lang="fr" i="1" dirty="0" smtClean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employés</a:t>
            </a:r>
            <a:endParaRPr i="1" dirty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0" name="Google Shape;80;p6"/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6"/>
          <p:cNvSpPr txBox="1"/>
          <p:nvPr/>
        </p:nvSpPr>
        <p:spPr>
          <a:xfrm>
            <a:off x="895525" y="3372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b="0" i="0" u="none" strike="noStrike" cap="none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Analyses univariées du prix</a:t>
            </a:r>
            <a:endParaRPr sz="2500" b="0" i="0" u="none" strike="noStrike" cap="none">
              <a:solidFill>
                <a:srgbClr val="F3F3F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2" name="Google Shape;82;p6"/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008854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13f9e8f1567_0_0"/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g13f9e8f1567_0_0"/>
          <p:cNvSpPr txBox="1"/>
          <p:nvPr/>
        </p:nvSpPr>
        <p:spPr>
          <a:xfrm>
            <a:off x="809385" y="351450"/>
            <a:ext cx="7181676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>
              <a:buSzPts val="2500"/>
            </a:pPr>
            <a:r>
              <a:rPr lang="en-US" sz="2500" dirty="0" err="1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Chiffre</a:t>
            </a:r>
            <a:r>
              <a:rPr lang="en-US" sz="2500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500" dirty="0" err="1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d'affaires</a:t>
            </a:r>
            <a:endParaRPr dirty="0"/>
          </a:p>
        </p:txBody>
      </p:sp>
      <p:sp>
        <p:nvSpPr>
          <p:cNvPr id="97" name="Google Shape;97;g13f9e8f1567_0_0"/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g13f9e8f1567_0_0"/>
          <p:cNvSpPr txBox="1">
            <a:spLocks noGrp="1"/>
          </p:cNvSpPr>
          <p:nvPr>
            <p:ph type="body" idx="1"/>
          </p:nvPr>
        </p:nvSpPr>
        <p:spPr>
          <a:xfrm>
            <a:off x="557274" y="1528600"/>
            <a:ext cx="83160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>
              <a:buNone/>
            </a:pPr>
            <a:r>
              <a:rPr lang="en-US" dirty="0" err="1" smtClean="0"/>
              <a:t>Méthode</a:t>
            </a:r>
            <a:r>
              <a:rPr lang="" dirty="0" smtClean="0"/>
              <a:t>:</a:t>
            </a:r>
          </a:p>
          <a:p>
            <a:pPr marL="0" lvl="0" indent="0">
              <a:buNone/>
            </a:pPr>
            <a:endParaRPr lang="" i="1" dirty="0">
              <a:solidFill>
                <a:srgbClr val="99999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>
              <a:buNone/>
            </a:pPr>
            <a:endParaRPr lang="" i="1" dirty="0" smtClean="0">
              <a:solidFill>
                <a:srgbClr val="99999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>
              <a:buNone/>
            </a:pPr>
            <a:endParaRPr lang="" i="1" dirty="0">
              <a:solidFill>
                <a:srgbClr val="99999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>
              <a:buNone/>
            </a:pPr>
            <a:endParaRPr lang="" i="1" dirty="0" smtClean="0">
              <a:solidFill>
                <a:srgbClr val="99999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>
              <a:buNone/>
            </a:pPr>
            <a:endParaRPr lang="" i="1" dirty="0">
              <a:solidFill>
                <a:srgbClr val="99999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>
              <a:buNone/>
            </a:pPr>
            <a:r>
              <a:rPr lang="en-US" dirty="0" err="1" smtClean="0"/>
              <a:t>Résultats</a:t>
            </a:r>
            <a:r>
              <a:rPr lang="" dirty="0" smtClean="0"/>
              <a:t>: </a:t>
            </a:r>
          </a:p>
          <a:p>
            <a:pPr marL="0" lvl="0" indent="0">
              <a:buNone/>
            </a:pPr>
            <a:r>
              <a:rPr lang="en-US" dirty="0" smtClean="0"/>
              <a:t>CA </a:t>
            </a:r>
            <a:r>
              <a:rPr lang="en-US" dirty="0"/>
              <a:t>total </a:t>
            </a:r>
            <a:r>
              <a:rPr lang="en-US" dirty="0" err="1"/>
              <a:t>octobre</a:t>
            </a:r>
            <a:r>
              <a:rPr lang="en-US" dirty="0"/>
              <a:t> </a:t>
            </a:r>
            <a:r>
              <a:rPr lang="en-US" dirty="0" smtClean="0"/>
              <a:t>:</a:t>
            </a:r>
            <a:r>
              <a:rPr lang="" dirty="0" smtClean="0"/>
              <a:t> 142 929,9</a:t>
            </a:r>
            <a:endParaRPr i="1" dirty="0">
              <a:solidFill>
                <a:srgbClr val="99999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7529" y="1623391"/>
            <a:ext cx="1094577" cy="3220279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01951" y="1623391"/>
            <a:ext cx="4940098" cy="222304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13f9e8f1567_0_0"/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g13f9e8f1567_0_0"/>
          <p:cNvSpPr txBox="1"/>
          <p:nvPr/>
        </p:nvSpPr>
        <p:spPr>
          <a:xfrm>
            <a:off x="895525" y="3372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>
              <a:buSzPts val="2500"/>
            </a:pPr>
            <a:r>
              <a:rPr lang="fr-FR" sz="2500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Top références et règle des 20/80</a:t>
            </a:r>
            <a:endParaRPr dirty="0"/>
          </a:p>
        </p:txBody>
      </p:sp>
      <p:sp>
        <p:nvSpPr>
          <p:cNvPr id="97" name="Google Shape;97;g13f9e8f1567_0_0"/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7447" y="1482285"/>
            <a:ext cx="3577405" cy="1898623"/>
          </a:xfrm>
          <a:prstGeom prst="rect">
            <a:avLst/>
          </a:prstGeom>
        </p:spPr>
      </p:pic>
      <p:sp>
        <p:nvSpPr>
          <p:cNvPr id="98" name="Google Shape;98;g13f9e8f1567_0_0"/>
          <p:cNvSpPr txBox="1">
            <a:spLocks noGrp="1"/>
          </p:cNvSpPr>
          <p:nvPr>
            <p:ph type="body" idx="1"/>
          </p:nvPr>
        </p:nvSpPr>
        <p:spPr>
          <a:xfrm>
            <a:off x="199465" y="1390200"/>
            <a:ext cx="1218517" cy="490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>
              <a:buNone/>
            </a:pPr>
            <a:r>
              <a:rPr lang="en-US" dirty="0" err="1"/>
              <a:t>Méthode</a:t>
            </a:r>
            <a:endParaRPr i="1" dirty="0">
              <a:solidFill>
                <a:srgbClr val="99999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99465" y="3683614"/>
            <a:ext cx="93166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/>
              <a:t>Résultats</a:t>
            </a:r>
            <a:endParaRPr lang="fr-FR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8525" y="3492381"/>
            <a:ext cx="3511825" cy="149276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20213" y="2914818"/>
            <a:ext cx="2475652" cy="1930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55883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13f9e8f1567_0_0"/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g13f9e8f1567_0_0"/>
          <p:cNvSpPr txBox="1"/>
          <p:nvPr/>
        </p:nvSpPr>
        <p:spPr>
          <a:xfrm>
            <a:off x="623400" y="351450"/>
            <a:ext cx="8249874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>
              <a:buSzPts val="2500"/>
            </a:pPr>
            <a:r>
              <a:rPr lang="fr-FR" sz="2500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Détection des valeurs aberrantes dans les prix</a:t>
            </a:r>
            <a:endParaRPr dirty="0"/>
          </a:p>
        </p:txBody>
      </p:sp>
      <p:sp>
        <p:nvSpPr>
          <p:cNvPr id="97" name="Google Shape;97;g13f9e8f1567_0_0"/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g13f9e8f1567_0_0"/>
          <p:cNvSpPr txBox="1">
            <a:spLocks noGrp="1"/>
          </p:cNvSpPr>
          <p:nvPr>
            <p:ph type="body" idx="1"/>
          </p:nvPr>
        </p:nvSpPr>
        <p:spPr>
          <a:xfrm>
            <a:off x="557274" y="1528600"/>
            <a:ext cx="83160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>
              <a:buNone/>
            </a:pPr>
            <a:r>
              <a:rPr lang="en-US" dirty="0" err="1" smtClean="0"/>
              <a:t>Méthode</a:t>
            </a:r>
            <a:r>
              <a:rPr lang="en-US" dirty="0" smtClean="0"/>
              <a:t>:</a:t>
            </a:r>
          </a:p>
          <a:p>
            <a:pPr marL="0" lvl="0" indent="0">
              <a:buNone/>
            </a:pPr>
            <a:endParaRPr lang="en-US" i="1" dirty="0">
              <a:solidFill>
                <a:srgbClr val="99999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>
              <a:buNone/>
            </a:pPr>
            <a:endParaRPr lang="en-US" i="1" dirty="0" smtClean="0">
              <a:solidFill>
                <a:srgbClr val="99999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>
              <a:buNone/>
            </a:pPr>
            <a:endParaRPr lang="en-US" i="1" dirty="0">
              <a:solidFill>
                <a:srgbClr val="99999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>
              <a:buNone/>
            </a:pPr>
            <a:endParaRPr lang="en-US" i="1" dirty="0" smtClean="0">
              <a:solidFill>
                <a:srgbClr val="99999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>
              <a:buNone/>
            </a:pPr>
            <a:endParaRPr lang="en-US" i="1" dirty="0">
              <a:solidFill>
                <a:srgbClr val="99999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>
              <a:buNone/>
            </a:pPr>
            <a:r>
              <a:rPr lang="en-US" dirty="0" err="1" smtClean="0"/>
              <a:t>Résultats</a:t>
            </a:r>
            <a:r>
              <a:rPr lang="en-US" dirty="0" smtClean="0"/>
              <a:t>:</a:t>
            </a:r>
            <a:endParaRPr i="1" dirty="0">
              <a:solidFill>
                <a:srgbClr val="99999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6279" y="1528600"/>
            <a:ext cx="3834752" cy="2035204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90267" y="1405111"/>
            <a:ext cx="3023770" cy="2282181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28661" y="3578989"/>
            <a:ext cx="4578626" cy="1350825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397565" y="3968416"/>
            <a:ext cx="363109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000" b="1" dirty="0"/>
              <a:t>Conclusion</a:t>
            </a:r>
            <a:r>
              <a:rPr lang="fr-FR" sz="1000" dirty="0"/>
              <a:t> : ces valeurs ne sont pas des erreurs de saisie — il s'agit de vins premium. Le catalogue </a:t>
            </a:r>
            <a:r>
              <a:rPr lang="fr-FR" sz="1000" dirty="0" err="1"/>
              <a:t>Bottleneck</a:t>
            </a:r>
            <a:r>
              <a:rPr lang="fr-FR" sz="1000" dirty="0"/>
              <a:t> comprend un segment haut de gamme statistiquement distinct du reste de l'offre (médiane ~25€).</a:t>
            </a:r>
          </a:p>
        </p:txBody>
      </p:sp>
    </p:spTree>
    <p:extLst>
      <p:ext uri="{BB962C8B-B14F-4D97-AF65-F5344CB8AC3E}">
        <p14:creationId xmlns:p14="http://schemas.microsoft.com/office/powerpoint/2010/main" val="17391841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13f9e8f1567_0_0"/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g13f9e8f1567_0_0"/>
          <p:cNvSpPr txBox="1"/>
          <p:nvPr/>
        </p:nvSpPr>
        <p:spPr>
          <a:xfrm>
            <a:off x="895525" y="337250"/>
            <a:ext cx="7367205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>
              <a:buSzPts val="2500"/>
            </a:pPr>
            <a:r>
              <a:rPr lang="fr-FR" sz="2500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Taux de marge et mois de stock</a:t>
            </a:r>
            <a:endParaRPr dirty="0"/>
          </a:p>
        </p:txBody>
      </p:sp>
      <p:sp>
        <p:nvSpPr>
          <p:cNvPr id="97" name="Google Shape;97;g13f9e8f1567_0_0"/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4817" y="1473661"/>
            <a:ext cx="4025270" cy="1318985"/>
          </a:xfrm>
          <a:prstGeom prst="rect">
            <a:avLst/>
          </a:prstGeom>
        </p:spPr>
      </p:pic>
      <p:sp>
        <p:nvSpPr>
          <p:cNvPr id="98" name="Google Shape;98;g13f9e8f1567_0_0"/>
          <p:cNvSpPr txBox="1">
            <a:spLocks noGrp="1"/>
          </p:cNvSpPr>
          <p:nvPr>
            <p:ph type="body" idx="1"/>
          </p:nvPr>
        </p:nvSpPr>
        <p:spPr>
          <a:xfrm>
            <a:off x="557274" y="1727450"/>
            <a:ext cx="8316000" cy="3217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>
              <a:buNone/>
            </a:pPr>
            <a:r>
              <a:rPr lang="en-US" dirty="0" err="1" smtClean="0"/>
              <a:t>Méthode</a:t>
            </a:r>
            <a:r>
              <a:rPr lang="en-US" dirty="0" smtClean="0"/>
              <a:t>:</a:t>
            </a:r>
          </a:p>
          <a:p>
            <a:pPr marL="0" lvl="0" indent="0">
              <a:buNone/>
            </a:pPr>
            <a:endParaRPr lang="en-US" i="1" dirty="0">
              <a:solidFill>
                <a:srgbClr val="99999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>
              <a:buNone/>
            </a:pPr>
            <a:endParaRPr lang="en-US" i="1" dirty="0" smtClean="0">
              <a:solidFill>
                <a:srgbClr val="99999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>
              <a:buNone/>
            </a:pPr>
            <a:r>
              <a:rPr lang="en-US" dirty="0" err="1" smtClean="0"/>
              <a:t>Résultats</a:t>
            </a:r>
            <a:r>
              <a:rPr lang="en-US" dirty="0" smtClean="0"/>
              <a:t>:</a:t>
            </a:r>
            <a:endParaRPr lang="" dirty="0" smtClean="0"/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fr-FR" dirty="0" smtClean="0"/>
              <a:t>Ruptures </a:t>
            </a:r>
            <a:r>
              <a:rPr lang="fr-FR" dirty="0"/>
              <a:t>de stock: 44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fr-FR" dirty="0"/>
              <a:t>Surstock &gt; 12 mois: </a:t>
            </a:r>
            <a:r>
              <a:rPr lang="fr-FR" dirty="0" smtClean="0"/>
              <a:t>26</a:t>
            </a:r>
            <a:endParaRPr lang="" dirty="0" smtClean="0"/>
          </a:p>
          <a:p>
            <a:pPr marL="285750" lvl="0" indent="-285750">
              <a:buFont typeface="Wingdings" panose="05000000000000000000" pitchFamily="2" charset="2"/>
              <a:buChar char="Ø"/>
            </a:pPr>
            <a:endParaRPr lang="" i="1" dirty="0">
              <a:solidFill>
                <a:srgbClr val="99999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print("Ruptures de stock:", (summary["</a:t>
            </a:r>
            <a:r>
              <a:rPr lang="en-US" sz="1400" dirty="0" err="1">
                <a:solidFill>
                  <a:schemeClr val="bg1">
                    <a:lumMod val="50000"/>
                  </a:schemeClr>
                </a:solidFill>
              </a:rPr>
              <a:t>stock_quantity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"] == 0).sum())</a:t>
            </a:r>
          </a:p>
          <a:p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print("</a:t>
            </a:r>
            <a:r>
              <a:rPr lang="en-US" sz="1400" dirty="0" err="1">
                <a:solidFill>
                  <a:schemeClr val="bg1">
                    <a:lumMod val="50000"/>
                  </a:schemeClr>
                </a:solidFill>
              </a:rPr>
              <a:t>Surstock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 &gt; 12 </a:t>
            </a:r>
            <a:r>
              <a:rPr lang="en-US" sz="1400" dirty="0" err="1">
                <a:solidFill>
                  <a:schemeClr val="bg1">
                    <a:lumMod val="50000"/>
                  </a:schemeClr>
                </a:solidFill>
              </a:rPr>
              <a:t>mois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:", (summary["</a:t>
            </a:r>
            <a:r>
              <a:rPr lang="en-US" sz="1400" dirty="0" err="1">
                <a:solidFill>
                  <a:schemeClr val="bg1">
                    <a:lumMod val="50000"/>
                  </a:schemeClr>
                </a:solidFill>
              </a:rPr>
              <a:t>mois_stock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"] &gt; 12).sum())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endParaRPr sz="1400" i="1" dirty="0">
              <a:solidFill>
                <a:srgbClr val="99999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4838" y="2007704"/>
            <a:ext cx="3202472" cy="1927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06746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13f9e8f1567_0_0"/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g13f9e8f1567_0_0"/>
          <p:cNvSpPr txBox="1"/>
          <p:nvPr/>
        </p:nvSpPr>
        <p:spPr>
          <a:xfrm>
            <a:off x="895525" y="337250"/>
            <a:ext cx="7016023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>
              <a:buSzPts val="2500"/>
            </a:pPr>
            <a:r>
              <a:rPr lang="en-US" sz="2500" dirty="0" err="1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Matrice</a:t>
            </a:r>
            <a:r>
              <a:rPr lang="en-US" sz="2500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 de </a:t>
            </a:r>
            <a:r>
              <a:rPr lang="en-US" sz="2500" dirty="0" err="1" smtClean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corrélations</a:t>
            </a:r>
            <a:endParaRPr dirty="0"/>
          </a:p>
        </p:txBody>
      </p:sp>
      <p:sp>
        <p:nvSpPr>
          <p:cNvPr id="97" name="Google Shape;97;g13f9e8f1567_0_0"/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g13f9e8f1567_0_0"/>
          <p:cNvSpPr txBox="1">
            <a:spLocks noGrp="1"/>
          </p:cNvSpPr>
          <p:nvPr>
            <p:ph type="body" idx="1"/>
          </p:nvPr>
        </p:nvSpPr>
        <p:spPr>
          <a:xfrm>
            <a:off x="557274" y="1528600"/>
            <a:ext cx="83160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>
              <a:buNone/>
            </a:pPr>
            <a:r>
              <a:rPr lang="en-US" dirty="0" err="1" smtClean="0"/>
              <a:t>Méthode</a:t>
            </a:r>
            <a:r>
              <a:rPr lang="en-US" dirty="0" smtClean="0"/>
              <a:t>:</a:t>
            </a:r>
          </a:p>
          <a:p>
            <a:pPr marL="0" lvl="0" indent="0">
              <a:buNone/>
            </a:pPr>
            <a:endParaRPr lang="en-US" i="1" dirty="0">
              <a:solidFill>
                <a:srgbClr val="99999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>
              <a:buNone/>
            </a:pPr>
            <a:endParaRPr lang="en-US" i="1" dirty="0" smtClean="0">
              <a:solidFill>
                <a:srgbClr val="99999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>
              <a:buNone/>
            </a:pPr>
            <a:endParaRPr lang="en-US" i="1" dirty="0">
              <a:solidFill>
                <a:srgbClr val="99999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>
              <a:buNone/>
            </a:pPr>
            <a:r>
              <a:rPr lang="en-US" dirty="0" err="1" smtClean="0"/>
              <a:t>Résultats</a:t>
            </a:r>
            <a:r>
              <a:rPr lang="en-US" dirty="0" smtClean="0"/>
              <a:t>:</a:t>
            </a:r>
            <a:endParaRPr i="1" dirty="0">
              <a:solidFill>
                <a:srgbClr val="99999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8723" y="1598321"/>
            <a:ext cx="6599492" cy="1310754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78655" y="3036194"/>
            <a:ext cx="2365724" cy="178168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43947" y="3352800"/>
            <a:ext cx="4837043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b="1" dirty="0"/>
              <a:t>Conclusions clés </a:t>
            </a:r>
            <a:r>
              <a:rPr lang="fr-FR" sz="1100" dirty="0" smtClean="0"/>
              <a:t>:</a:t>
            </a:r>
          </a:p>
          <a:p>
            <a:r>
              <a:rPr lang="fr-FR" sz="1100" b="1" dirty="0" err="1" smtClean="0"/>
              <a:t>price</a:t>
            </a:r>
            <a:r>
              <a:rPr lang="fr-FR" sz="1100" b="1" dirty="0" smtClean="0"/>
              <a:t> </a:t>
            </a:r>
            <a:r>
              <a:rPr lang="fr-FR" sz="1100" b="1" dirty="0"/>
              <a:t>/ </a:t>
            </a:r>
            <a:r>
              <a:rPr lang="fr-FR" sz="1100" b="1" dirty="0" err="1"/>
              <a:t>purchase_price</a:t>
            </a:r>
            <a:r>
              <a:rPr lang="fr-FR" sz="1100" b="1" dirty="0"/>
              <a:t> </a:t>
            </a:r>
            <a:r>
              <a:rPr lang="fr-FR" sz="1100" dirty="0"/>
              <a:t>= 0.99 — logique : le prix de vente est directement lié au prix </a:t>
            </a:r>
            <a:endParaRPr lang="fr-FR" sz="1100" dirty="0" smtClean="0"/>
          </a:p>
          <a:p>
            <a:r>
              <a:rPr lang="fr-FR" sz="1100" b="1" dirty="0" smtClean="0"/>
              <a:t>d'</a:t>
            </a:r>
            <a:r>
              <a:rPr lang="fr-FR" sz="1100" b="1" dirty="0" err="1" smtClean="0"/>
              <a:t>achatprice</a:t>
            </a:r>
            <a:r>
              <a:rPr lang="fr-FR" sz="1100" b="1" dirty="0" smtClean="0"/>
              <a:t> </a:t>
            </a:r>
            <a:r>
              <a:rPr lang="fr-FR" sz="1100" b="1" dirty="0"/>
              <a:t>/ </a:t>
            </a:r>
            <a:r>
              <a:rPr lang="fr-FR" sz="1100" b="1" dirty="0" err="1"/>
              <a:t>total_sales</a:t>
            </a:r>
            <a:r>
              <a:rPr lang="fr-FR" sz="1100" b="1" dirty="0"/>
              <a:t> </a:t>
            </a:r>
            <a:r>
              <a:rPr lang="fr-FR" sz="1100" dirty="0"/>
              <a:t>= -0.52 — les vins chers se vendent </a:t>
            </a:r>
            <a:r>
              <a:rPr lang="fr-FR" sz="1100" dirty="0" smtClean="0"/>
              <a:t>moins</a:t>
            </a:r>
          </a:p>
          <a:p>
            <a:r>
              <a:rPr lang="fr-FR" sz="1100" b="1" dirty="0" smtClean="0"/>
              <a:t>CA </a:t>
            </a:r>
            <a:r>
              <a:rPr lang="fr-FR" sz="1100" b="1" dirty="0"/>
              <a:t>/ </a:t>
            </a:r>
            <a:r>
              <a:rPr lang="fr-FR" sz="1100" b="1" dirty="0" err="1"/>
              <a:t>price</a:t>
            </a:r>
            <a:r>
              <a:rPr lang="fr-FR" sz="1100" b="1" dirty="0"/>
              <a:t> </a:t>
            </a:r>
            <a:r>
              <a:rPr lang="fr-FR" sz="1100" dirty="0"/>
              <a:t>= 0.63 — le CA est davantage tiré par les prix que par les </a:t>
            </a:r>
            <a:r>
              <a:rPr lang="fr-FR" sz="1100" dirty="0" smtClean="0"/>
              <a:t>volumes</a:t>
            </a:r>
          </a:p>
          <a:p>
            <a:r>
              <a:rPr lang="fr-FR" sz="1100" b="1" dirty="0" err="1" smtClean="0"/>
              <a:t>stock_quantity</a:t>
            </a:r>
            <a:r>
              <a:rPr lang="fr-FR" sz="1100" b="1" dirty="0" smtClean="0"/>
              <a:t> </a:t>
            </a:r>
            <a:r>
              <a:rPr lang="fr-FR" sz="1100" b="1" dirty="0"/>
              <a:t>/ </a:t>
            </a:r>
            <a:r>
              <a:rPr lang="fr-FR" sz="1100" b="1" dirty="0" err="1"/>
              <a:t>taux_marge</a:t>
            </a:r>
            <a:r>
              <a:rPr lang="fr-FR" sz="1100" b="1" dirty="0"/>
              <a:t> </a:t>
            </a:r>
            <a:r>
              <a:rPr lang="fr-FR" sz="1100" dirty="0"/>
              <a:t>= -0.49 — les produits à forte marge ont moins de stock</a:t>
            </a:r>
          </a:p>
        </p:txBody>
      </p:sp>
    </p:spTree>
    <p:extLst>
      <p:ext uri="{BB962C8B-B14F-4D97-AF65-F5344CB8AC3E}">
        <p14:creationId xmlns:p14="http://schemas.microsoft.com/office/powerpoint/2010/main" val="35635713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13f9e8f1567_0_0"/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g13f9e8f1567_0_0"/>
          <p:cNvSpPr txBox="1"/>
          <p:nvPr/>
        </p:nvSpPr>
        <p:spPr>
          <a:xfrm>
            <a:off x="895525" y="3372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Actions pour la suite</a:t>
            </a:r>
            <a:endParaRPr/>
          </a:p>
        </p:txBody>
      </p:sp>
      <p:sp>
        <p:nvSpPr>
          <p:cNvPr id="97" name="Google Shape;97;g13f9e8f1567_0_0"/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Text Placeholder 1"/>
          <p:cNvSpPr>
            <a:spLocks noGrp="1" noChangeArrowheads="1"/>
          </p:cNvSpPr>
          <p:nvPr>
            <p:ph type="body" idx="1"/>
          </p:nvPr>
        </p:nvSpPr>
        <p:spPr bwMode="auto">
          <a:xfrm>
            <a:off x="305421" y="1473600"/>
            <a:ext cx="7707559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Livrables</a:t>
            </a:r>
            <a:r>
              <a:rPr kumimoji="0" lang="uk-UA" altLang="uk-UA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uk-UA" altLang="uk-UA" sz="1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produits</a:t>
            </a:r>
            <a:endParaRPr kumimoji="0" lang="uk-UA" altLang="uk-UA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uk-UA" altLang="uk-UA" sz="1100" b="0" i="0" u="none" strike="noStrike" cap="none" normalizeH="0" baseline="0" dirty="0" smtClean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latin typeface="Arial Unicode MS" panose="020B0604020202020204" pitchFamily="34" charset="-128"/>
              </a:rPr>
              <a:t>erreurs.xlsx</a:t>
            </a:r>
            <a:r>
              <a:rPr kumimoji="0" lang="uk-UA" altLang="uk-UA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— </a:t>
            </a:r>
            <a:r>
              <a:rPr kumimoji="0" lang="uk-UA" altLang="uk-UA" sz="11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table</a:t>
            </a:r>
            <a:r>
              <a:rPr kumimoji="0" lang="uk-UA" altLang="uk-UA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uk-UA" altLang="uk-UA" sz="11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documentée</a:t>
            </a:r>
            <a:r>
              <a:rPr kumimoji="0" lang="uk-UA" altLang="uk-UA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uk-UA" altLang="uk-UA" sz="11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des</a:t>
            </a:r>
            <a:r>
              <a:rPr kumimoji="0" lang="uk-UA" altLang="uk-UA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8 </a:t>
            </a:r>
            <a:r>
              <a:rPr kumimoji="0" lang="uk-UA" altLang="uk-UA" sz="11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erreurs</a:t>
            </a:r>
            <a:r>
              <a:rPr kumimoji="0" lang="uk-UA" altLang="uk-UA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uk-UA" altLang="uk-UA" sz="11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détectées</a:t>
            </a:r>
            <a:r>
              <a:rPr kumimoji="0" lang="uk-UA" altLang="uk-UA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uk-UA" altLang="uk-UA" sz="11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disponible</a:t>
            </a:r>
            <a:r>
              <a:rPr kumimoji="0" lang="uk-UA" altLang="uk-UA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uk-UA" altLang="uk-UA" sz="11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pour</a:t>
            </a:r>
            <a:r>
              <a:rPr kumimoji="0" lang="uk-UA" altLang="uk-UA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uk-UA" altLang="uk-UA" sz="11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investigation</a:t>
            </a:r>
            <a:r>
              <a:rPr kumimoji="0" lang="uk-UA" altLang="uk-UA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uk-UA" altLang="uk-UA" sz="11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métier</a:t>
            </a:r>
            <a:r>
              <a:rPr kumimoji="0" lang="uk-UA" altLang="uk-UA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uk-UA" altLang="uk-UA" sz="1100" b="0" i="0" u="none" strike="noStrike" cap="none" normalizeH="0" baseline="0" dirty="0" smtClean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latin typeface="Arial Unicode MS" panose="020B0604020202020204" pitchFamily="34" charset="-128"/>
              </a:rPr>
              <a:t>rapport.xlsx</a:t>
            </a:r>
            <a:r>
              <a:rPr kumimoji="0" lang="uk-UA" altLang="uk-UA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— </a:t>
            </a:r>
            <a:r>
              <a:rPr kumimoji="0" lang="uk-UA" altLang="uk-UA" sz="11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analyses</a:t>
            </a:r>
            <a:r>
              <a:rPr kumimoji="0" lang="uk-UA" altLang="uk-UA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uk-UA" altLang="uk-UA" sz="11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complètes</a:t>
            </a:r>
            <a:r>
              <a:rPr kumimoji="0" lang="uk-UA" altLang="uk-UA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: CA, </a:t>
            </a:r>
            <a:r>
              <a:rPr kumimoji="0" lang="uk-UA" altLang="uk-UA" sz="11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Top</a:t>
            </a:r>
            <a:r>
              <a:rPr kumimoji="0" lang="uk-UA" altLang="uk-UA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20, </a:t>
            </a:r>
            <a:r>
              <a:rPr kumimoji="0" lang="uk-UA" altLang="uk-UA" sz="11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règle</a:t>
            </a:r>
            <a:r>
              <a:rPr kumimoji="0" lang="uk-UA" altLang="uk-UA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20/80, </a:t>
            </a:r>
            <a:r>
              <a:rPr kumimoji="0" lang="uk-UA" altLang="uk-UA" sz="11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anomalies</a:t>
            </a:r>
            <a:r>
              <a:rPr kumimoji="0" lang="uk-UA" altLang="uk-UA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uk-UA" altLang="uk-UA" sz="11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prix</a:t>
            </a:r>
            <a:r>
              <a:rPr kumimoji="0" lang="uk-UA" altLang="uk-UA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uk-UA" altLang="uk-UA" sz="11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marges</a:t>
            </a:r>
            <a:r>
              <a:rPr kumimoji="0" lang="uk-UA" altLang="uk-UA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uk-UA" altLang="uk-UA" sz="11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stocks</a:t>
            </a:r>
            <a:r>
              <a:rPr kumimoji="0" lang="uk-UA" altLang="uk-UA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uk-UA" altLang="uk-UA" sz="11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corrélations</a:t>
            </a:r>
            <a:r>
              <a:rPr kumimoji="0" lang="uk-UA" altLang="uk-UA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uk-UA" altLang="uk-UA" sz="1100" b="0" i="0" u="none" strike="noStrike" cap="none" normalizeH="0" baseline="0" dirty="0" smtClean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latin typeface="Arial Unicode MS" panose="020B0604020202020204" pitchFamily="34" charset="-128"/>
              </a:rPr>
              <a:t>boxplot_price.png</a:t>
            </a:r>
            <a:r>
              <a:rPr kumimoji="0" lang="uk-UA" altLang="uk-UA" sz="1100" b="0" i="0" u="none" strike="noStrike" cap="none" normalizeH="0" baseline="0" dirty="0" smtClean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</a:rPr>
              <a:t> + </a:t>
            </a:r>
            <a:r>
              <a:rPr kumimoji="0" lang="uk-UA" altLang="uk-UA" sz="1100" b="0" i="0" u="none" strike="noStrike" cap="none" normalizeH="0" baseline="0" dirty="0" smtClean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latin typeface="Arial Unicode MS" panose="020B0604020202020204" pitchFamily="34" charset="-128"/>
              </a:rPr>
              <a:t>heatmap_correlations.png</a:t>
            </a:r>
            <a:r>
              <a:rPr kumimoji="0" lang="uk-UA" altLang="uk-UA" sz="1100" b="0" i="0" u="none" strike="noStrike" cap="none" normalizeH="0" baseline="0" dirty="0" smtClean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</a:rPr>
              <a:t> </a:t>
            </a:r>
            <a:r>
              <a:rPr kumimoji="0" lang="uk-UA" altLang="uk-UA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— </a:t>
            </a:r>
            <a:r>
              <a:rPr kumimoji="0" lang="uk-UA" altLang="uk-UA" sz="11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visualisations</a:t>
            </a:r>
            <a:r>
              <a:rPr kumimoji="0" lang="uk-UA" altLang="uk-UA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uk-UA" altLang="uk-UA" sz="11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prêtes</a:t>
            </a:r>
            <a:r>
              <a:rPr kumimoji="0" lang="uk-UA" altLang="uk-UA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uk-UA" altLang="uk-UA" sz="11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pour</a:t>
            </a:r>
            <a:r>
              <a:rPr kumimoji="0" lang="uk-UA" altLang="uk-UA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uk-UA" altLang="uk-UA" sz="11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présentation</a:t>
            </a:r>
            <a:r>
              <a:rPr kumimoji="0" lang="uk-UA" altLang="uk-UA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Prochaines</a:t>
            </a:r>
            <a:r>
              <a:rPr kumimoji="0" lang="uk-UA" altLang="uk-UA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uk-UA" altLang="uk-UA" sz="1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étapes</a:t>
            </a:r>
            <a:r>
              <a:rPr kumimoji="0" lang="uk-UA" altLang="uk-UA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uk-UA" altLang="uk-UA" sz="1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recommandées</a:t>
            </a:r>
            <a:endParaRPr kumimoji="0" lang="uk-UA" altLang="uk-UA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uk-UA" altLang="uk-UA" sz="11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Confier</a:t>
            </a:r>
            <a:r>
              <a:rPr kumimoji="0" lang="uk-UA" altLang="uk-UA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uk-UA" altLang="uk-UA" sz="11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l'interprétation</a:t>
            </a:r>
            <a:r>
              <a:rPr kumimoji="0" lang="uk-UA" altLang="uk-UA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uk-UA" altLang="uk-UA" sz="11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métier</a:t>
            </a:r>
            <a:r>
              <a:rPr kumimoji="0" lang="uk-UA" altLang="uk-UA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uk-UA" altLang="uk-UA" sz="11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des</a:t>
            </a:r>
            <a:r>
              <a:rPr kumimoji="0" lang="uk-UA" altLang="uk-UA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uk-UA" altLang="uk-UA" sz="11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résultats</a:t>
            </a:r>
            <a:r>
              <a:rPr kumimoji="0" lang="uk-UA" altLang="uk-UA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uk-UA" altLang="uk-UA" sz="11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aux</a:t>
            </a:r>
            <a:r>
              <a:rPr kumimoji="0" lang="uk-UA" altLang="uk-UA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uk-UA" altLang="uk-UA" sz="11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équipes</a:t>
            </a:r>
            <a:r>
              <a:rPr kumimoji="0" lang="uk-UA" altLang="uk-UA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uk-UA" altLang="uk-UA" sz="11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commerciales</a:t>
            </a:r>
            <a:r>
              <a:rPr kumimoji="0" lang="uk-UA" altLang="uk-UA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uk-UA" altLang="uk-UA" sz="11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quels</a:t>
            </a:r>
            <a:r>
              <a:rPr kumimoji="0" lang="uk-UA" altLang="uk-UA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uk-UA" altLang="uk-UA" sz="11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produits</a:t>
            </a:r>
            <a:r>
              <a:rPr kumimoji="0" lang="uk-UA" altLang="uk-UA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uk-UA" altLang="uk-UA" sz="11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promouvoir</a:t>
            </a:r>
            <a:r>
              <a:rPr kumimoji="0" lang="uk-UA" altLang="uk-UA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uk-UA" altLang="uk-UA" sz="11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quels</a:t>
            </a:r>
            <a:r>
              <a:rPr kumimoji="0" lang="uk-UA" altLang="uk-UA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uk-UA" altLang="uk-UA" sz="11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stocks</a:t>
            </a:r>
            <a:r>
              <a:rPr kumimoji="0" lang="uk-UA" altLang="uk-UA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uk-UA" altLang="uk-UA" sz="11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réduire</a:t>
            </a:r>
            <a:r>
              <a:rPr kumimoji="0" lang="uk-UA" altLang="uk-UA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uk-UA" altLang="uk-UA" sz="11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Mettre</a:t>
            </a:r>
            <a:r>
              <a:rPr kumimoji="0" lang="uk-UA" altLang="uk-UA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uk-UA" altLang="uk-UA" sz="11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</a:t>
            </a:r>
            <a:r>
              <a:rPr kumimoji="0" lang="uk-UA" altLang="uk-UA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uk-UA" altLang="uk-UA" sz="11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place</a:t>
            </a:r>
            <a:r>
              <a:rPr kumimoji="0" lang="uk-UA" altLang="uk-UA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uk-UA" altLang="uk-UA" sz="11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</a:t>
            </a:r>
            <a:r>
              <a:rPr kumimoji="0" lang="uk-UA" altLang="uk-UA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uk-UA" altLang="uk-UA" sz="11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base</a:t>
            </a:r>
            <a:r>
              <a:rPr kumimoji="0" lang="uk-UA" altLang="uk-UA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uk-UA" altLang="uk-UA" sz="11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</a:t>
            </a:r>
            <a:r>
              <a:rPr kumimoji="0" lang="uk-UA" altLang="uk-UA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uk-UA" altLang="uk-UA" sz="11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données</a:t>
            </a:r>
            <a:r>
              <a:rPr kumimoji="0" lang="uk-UA" altLang="uk-UA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uk-UA" altLang="uk-UA" sz="11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PostgreSQL</a:t>
            </a:r>
            <a:r>
              <a:rPr kumimoji="0" lang="uk-UA" altLang="uk-UA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uk-UA" altLang="uk-UA" sz="11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selon</a:t>
            </a:r>
            <a:r>
              <a:rPr kumimoji="0" lang="uk-UA" altLang="uk-UA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uk-UA" altLang="uk-UA" sz="11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les</a:t>
            </a:r>
            <a:r>
              <a:rPr kumimoji="0" lang="uk-UA" altLang="uk-UA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uk-UA" altLang="uk-UA" sz="11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recommandations</a:t>
            </a:r>
            <a:r>
              <a:rPr kumimoji="0" lang="uk-UA" altLang="uk-UA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uk-UA" altLang="uk-UA" sz="11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techniques</a:t>
            </a:r>
            <a:r>
              <a:rPr kumimoji="0" lang="uk-UA" altLang="uk-UA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endParaRPr kumimoji="0" lang="" altLang="uk-UA" sz="11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uk-UA" altLang="uk-UA" sz="11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Automatiser</a:t>
            </a:r>
            <a:r>
              <a:rPr kumimoji="0" lang="uk-UA" altLang="uk-UA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uk-UA" altLang="uk-UA" sz="11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ce</a:t>
            </a:r>
            <a:r>
              <a:rPr kumimoji="0" lang="uk-UA" altLang="uk-UA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uk-UA" altLang="uk-UA" sz="11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pipeline</a:t>
            </a:r>
            <a:r>
              <a:rPr kumimoji="0" lang="uk-UA" altLang="uk-UA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uk-UA" altLang="uk-UA" sz="11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d'analyse</a:t>
            </a:r>
            <a:r>
              <a:rPr kumimoji="0" lang="uk-UA" altLang="uk-UA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uk-UA" altLang="uk-UA" sz="11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pour</a:t>
            </a:r>
            <a:r>
              <a:rPr kumimoji="0" lang="uk-UA" altLang="uk-UA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uk-UA" altLang="uk-UA" sz="11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</a:t>
            </a:r>
            <a:r>
              <a:rPr kumimoji="0" lang="uk-UA" altLang="uk-UA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uk-UA" altLang="uk-UA" sz="11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reporting</a:t>
            </a:r>
            <a:r>
              <a:rPr kumimoji="0" lang="uk-UA" altLang="uk-UA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uk-UA" altLang="uk-UA" sz="11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mensuel</a:t>
            </a:r>
            <a:r>
              <a:rPr kumimoji="0" lang="uk-UA" altLang="uk-UA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uk-UA" altLang="uk-UA" sz="11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récurrent</a:t>
            </a:r>
            <a:endParaRPr kumimoji="0" lang="uk-UA" altLang="uk-UA" sz="11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uk-UA" altLang="uk-UA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8157" y="3149051"/>
            <a:ext cx="3073972" cy="1643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14122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13f9e8f1567_0_7"/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g13f9e8f1567_0_7"/>
          <p:cNvSpPr txBox="1"/>
          <p:nvPr/>
        </p:nvSpPr>
        <p:spPr>
          <a:xfrm>
            <a:off x="895525" y="3372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Point sur les compétences apprises</a:t>
            </a:r>
            <a:endParaRPr/>
          </a:p>
        </p:txBody>
      </p:sp>
      <p:sp>
        <p:nvSpPr>
          <p:cNvPr id="105" name="Google Shape;105;g13f9e8f1567_0_7"/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g13f9e8f1567_0_7"/>
          <p:cNvSpPr txBox="1">
            <a:spLocks noGrp="1"/>
          </p:cNvSpPr>
          <p:nvPr>
            <p:ph type="body" idx="1"/>
          </p:nvPr>
        </p:nvSpPr>
        <p:spPr>
          <a:xfrm>
            <a:off x="557274" y="1528600"/>
            <a:ext cx="83160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10000"/>
          </a:bodyPr>
          <a:lstStyle/>
          <a:p>
            <a:pPr lvl="0">
              <a:buClr>
                <a:srgbClr val="999999"/>
              </a:buClr>
              <a:buFont typeface="Montserrat"/>
              <a:buChar char="●"/>
            </a:pPr>
            <a:r>
              <a:rPr lang="fr-FR" b="1" i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Qu'est-ce qui s'est bien passé </a:t>
            </a:r>
            <a:r>
              <a:rPr lang="fr-FR" b="1" i="1" dirty="0" smtClean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?</a:t>
            </a:r>
            <a:endParaRPr lang="" b="1" i="1" dirty="0" smtClean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lvl="0">
              <a:buClr>
                <a:srgbClr val="999999"/>
              </a:buClr>
              <a:buFont typeface="Wingdings" panose="05000000000000000000" pitchFamily="2" charset="2"/>
              <a:buChar char="Ø"/>
            </a:pPr>
            <a:r>
              <a:rPr lang="fr-FR" i="1" dirty="0" smtClean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Bonne </a:t>
            </a:r>
            <a:r>
              <a:rPr lang="fr-FR" i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compréhension de la structure des données dès l'exploration </a:t>
            </a:r>
            <a:r>
              <a:rPr lang="fr-FR" i="1" dirty="0" smtClean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initiale</a:t>
            </a:r>
            <a:endParaRPr lang="" i="1" dirty="0" smtClean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lvl="0">
              <a:buClr>
                <a:srgbClr val="999999"/>
              </a:buClr>
              <a:buFont typeface="Wingdings" panose="05000000000000000000" pitchFamily="2" charset="2"/>
              <a:buChar char="Ø"/>
            </a:pPr>
            <a:r>
              <a:rPr lang="fr-FR" i="1" dirty="0" smtClean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Consolidation </a:t>
            </a:r>
            <a:r>
              <a:rPr lang="fr-FR" i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réussie des 3 sources en une table unifiée </a:t>
            </a:r>
            <a:r>
              <a:rPr lang="fr-FR" i="1" dirty="0" smtClean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exploitable</a:t>
            </a:r>
            <a:endParaRPr lang="" i="1" dirty="0" smtClean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lvl="0">
              <a:buClr>
                <a:srgbClr val="999999"/>
              </a:buClr>
              <a:buFont typeface="Wingdings" panose="05000000000000000000" pitchFamily="2" charset="2"/>
              <a:buChar char="Ø"/>
            </a:pPr>
            <a:r>
              <a:rPr lang="fr-FR" i="1" dirty="0" smtClean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Logique </a:t>
            </a:r>
            <a:r>
              <a:rPr lang="fr-FR" i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de détection des erreurs claire et </a:t>
            </a:r>
            <a:r>
              <a:rPr lang="fr-FR" i="1" dirty="0" smtClean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documentée</a:t>
            </a:r>
            <a:endParaRPr lang="" i="1" dirty="0" smtClean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lvl="0">
              <a:buClr>
                <a:srgbClr val="999999"/>
              </a:buClr>
              <a:buFont typeface="Montserrat"/>
              <a:buChar char="●"/>
            </a:pPr>
            <a:r>
              <a:rPr lang="fr-FR" b="1" i="1" dirty="0" smtClean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Qu'est-ce </a:t>
            </a:r>
            <a:r>
              <a:rPr lang="fr-FR" b="1" i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que vous avez trouvé le plus difficile </a:t>
            </a:r>
            <a:r>
              <a:rPr lang="fr-FR" b="1" i="1" dirty="0" smtClean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?</a:t>
            </a:r>
            <a:endParaRPr lang="" b="1" i="1" dirty="0" smtClean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lvl="0">
              <a:buClr>
                <a:srgbClr val="999999"/>
              </a:buClr>
              <a:buFont typeface="Wingdings" panose="05000000000000000000" pitchFamily="2" charset="2"/>
              <a:buChar char="Ø"/>
            </a:pPr>
            <a:r>
              <a:rPr lang="fr-FR" i="1" dirty="0" smtClean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L'interprétation </a:t>
            </a:r>
            <a:r>
              <a:rPr lang="fr-FR" i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métier des résultats — en tant que développeuse, l'analyse des données business (marges, stocks, corrélations) demande un regard d'analyste que je n'ai pas </a:t>
            </a:r>
            <a:r>
              <a:rPr lang="fr-FR" i="1" dirty="0" smtClean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encore</a:t>
            </a:r>
            <a:endParaRPr lang="" i="1" dirty="0" smtClean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lvl="0">
              <a:buClr>
                <a:srgbClr val="999999"/>
              </a:buClr>
              <a:buFont typeface="Montserrat"/>
              <a:buChar char="●"/>
            </a:pPr>
            <a:r>
              <a:rPr lang="fr-FR" b="1" i="1" dirty="0" smtClean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Sur </a:t>
            </a:r>
            <a:r>
              <a:rPr lang="fr-FR" b="1" i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quelles tâches pensez-vous avoir besoin de plus d'entraînement </a:t>
            </a:r>
            <a:r>
              <a:rPr lang="fr-FR" b="1" i="1" dirty="0" smtClean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?</a:t>
            </a:r>
            <a:endParaRPr lang="" b="1" i="1" dirty="0" smtClean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lvl="0">
              <a:buClr>
                <a:srgbClr val="999999"/>
              </a:buClr>
              <a:buFont typeface="Wingdings" panose="05000000000000000000" pitchFamily="2" charset="2"/>
              <a:buChar char="Ø"/>
            </a:pPr>
            <a:r>
              <a:rPr lang="fr-FR" i="1" dirty="0" smtClean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Approfondir </a:t>
            </a:r>
            <a:r>
              <a:rPr lang="fr-FR" i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la bibliothèque pandas et ses méthodes </a:t>
            </a:r>
            <a:r>
              <a:rPr lang="fr-FR" i="1" dirty="0" smtClean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avancées</a:t>
            </a:r>
            <a:endParaRPr lang="" i="1" dirty="0" smtClean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lvl="0">
              <a:buClr>
                <a:srgbClr val="999999"/>
              </a:buClr>
              <a:buFont typeface="Wingdings" panose="05000000000000000000" pitchFamily="2" charset="2"/>
              <a:buChar char="Ø"/>
            </a:pPr>
            <a:r>
              <a:rPr lang="fr-FR" i="1" dirty="0" smtClean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Consolider </a:t>
            </a:r>
            <a:r>
              <a:rPr lang="fr-FR" i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les bases Python — syntaxe, structures de données, programmation </a:t>
            </a:r>
            <a:r>
              <a:rPr lang="fr-FR" i="1" dirty="0" smtClean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fonctionnelle</a:t>
            </a:r>
            <a:endParaRPr lang="" i="1" dirty="0" smtClean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lvl="0">
              <a:buClr>
                <a:srgbClr val="999999"/>
              </a:buClr>
              <a:buFont typeface="Wingdings" panose="05000000000000000000" pitchFamily="2" charset="2"/>
              <a:buChar char="Ø"/>
            </a:pPr>
            <a:r>
              <a:rPr lang="fr-FR" i="1" dirty="0" smtClean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Pratiquer </a:t>
            </a:r>
            <a:r>
              <a:rPr lang="fr-FR" i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davantage l'analyse exploratoire pour développer les bons réflexes</a:t>
            </a:r>
            <a:endParaRPr i="1" dirty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257</TotalTime>
  <Words>1074</Words>
  <Application>Microsoft Office PowerPoint</Application>
  <PresentationFormat>On-screen Show (16:9)</PresentationFormat>
  <Paragraphs>184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Wingdings</vt:lpstr>
      <vt:lpstr>Montserrat</vt:lpstr>
      <vt:lpstr>Arial Unicode MS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cp:lastModifiedBy>Microsoft account</cp:lastModifiedBy>
  <cp:revision>65</cp:revision>
  <dcterms:modified xsi:type="dcterms:W3CDTF">2026-07-17T21:22:43Z</dcterms:modified>
</cp:coreProperties>
</file>